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Layouts/slideLayout57.xml" ContentType="application/vnd.openxmlformats-officedocument.presentationml.slideLayout+xml"/>
  <Override PartName="/ppt/slideLayouts/slideLayout50.xml" ContentType="application/vnd.openxmlformats-officedocument.presentationml.slideLayout+xml"/>
  <Default Extension="xml" ContentType="application/xml"/>
  <Override PartName="/ppt/tableStyles.xml" ContentType="application/vnd.openxmlformats-officedocument.presentationml.tableStyles+xml"/>
  <Override PartName="/ppt/slideLayouts/slideLayout33.xml" ContentType="application/vnd.openxmlformats-officedocument.presentationml.slideLayout+xml"/>
  <Override PartName="/ppt/slideLayouts/slideLayout49.xml" ContentType="application/vnd.openxmlformats-officedocument.presentationml.slideLayout+xml"/>
  <Override PartName="/docMetadata/LabelInfo.xml" ContentType="application/vnd.ms-office.classificationlabels+xml"/>
  <Override PartName="/ppt/slideLayouts/slideLayout16.xml" ContentType="application/vnd.openxmlformats-officedocument.presentationml.slideLayout+xml"/>
  <Override PartName="/ppt/slideLayouts/slideLayout42.xml" ContentType="application/vnd.openxmlformats-officedocument.presentationml.slideLayout+xml"/>
  <Override PartName="/customXml/itemProps1.xml" ContentType="application/vnd.openxmlformats-officedocument.customXmlProperties+xml"/>
  <Override PartName="/ppt/slides/slide21.xml" ContentType="application/vnd.openxmlformats-officedocument.presentationml.slide+xml"/>
  <Override PartName="/ppt/slideLayouts/slideLayout2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docProps/custom.xml" ContentType="application/vnd.openxmlformats-officedocument.custom-properties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6.xml" ContentType="application/vnd.openxmlformats-officedocument.presentationml.slideLayout+xml"/>
  <Override PartName="/ppt/slideLayouts/slideLayout39.xml" ContentType="application/vnd.openxmlformats-officedocument.presentationml.slideLayout+xml"/>
  <Override PartName="/docProps/core.xml" ContentType="application/vnd.openxmlformats-package.core-properties+xml"/>
  <Override PartName="/ppt/slideLayouts/slideLayout32.xml" ContentType="application/vnd.openxmlformats-officedocument.presentationml.slideLayout+xml"/>
  <Override PartName="/ppt/slideLayouts/slideLayout4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slideLayouts/slideLayout15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Default Extension="png" ContentType="image/png"/>
  <Override PartName="/ppt/slides/slide12.xml" ContentType="application/vnd.openxmlformats-officedocument.presentationml.slide+xml"/>
  <Override PartName="/ppt/slideLayouts/slideLayout55.xml" ContentType="application/vnd.openxmlformats-officedocument.presentationml.slideLayout+xml"/>
  <Override PartName="/ppt/slideLayouts/slideLayout3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3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26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5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61.xml" ContentType="application/vnd.openxmlformats-officedocument.presentationml.slideLayout+xml"/>
  <Override PartName="/ppt/tags/tag1.xml" ContentType="application/vnd.openxmlformats-officedocument.presentationml.tags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Layouts/slideLayout53.xml" ContentType="application/vnd.openxmlformats-officedocument.presentationml.slideLayout+xml"/>
  <Override PartName="/docProps/app.xml" ContentType="application/vnd.openxmlformats-officedocument.extended-properties+xml"/>
  <Override PartName="/ppt/slideLayouts/slideLayout3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59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52.xml" ContentType="application/vnd.openxmlformats-officedocument.presentationml.slideLayout+xml"/>
  <Default Extension="jpeg" ContentType="image/jpeg"/>
  <Override PartName="/ppt/slideLayouts/slideLayout3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customXml/itemProps3.xml" ContentType="application/vnd.openxmlformats-officedocument.customXmlProperties+xml"/>
  <Override PartName="/ppt/slideLayouts/slideLayout1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5.xml" ContentType="application/vnd.openxmlformats-officedocument.presentationml.slide+xml"/>
  <Override PartName="/ppt/slideLayouts/slideLayout5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1.xml" ContentType="application/vnd.openxmlformats-officedocument.theme+xml"/>
  <Override PartName="/customXml/itemProps2.xml" ContentType="application/vnd.openxmlformats-officedocument.customXmlProperties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Default Extension="bin" ContentType="application/vnd.openxmlformats-officedocument.presentationml.printerSettings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aveSubsetFonts="1">
  <p:sldMasterIdLst>
    <p:sldMasterId r:id="rId4"/>
  </p:sldMasterIdLst>
  <p:notesMasterIdLst>
    <p:notesMasterId r:id="rId31"/>
  </p:notesMasterIdLst>
  <p:handoutMasterIdLst>
    <p:handoutMasterId r:id="rId32"/>
  </p:handoutMasterIdLst>
  <p:sldIdLst>
    <p:sldId id="333" r:id="rId5"/>
    <p:sldId id="339" r:id="rId6"/>
    <p:sldId id="389" r:id="rId7"/>
    <p:sldId id="526" r:id="rId8"/>
    <p:sldId id="525" r:id="rId9"/>
    <p:sldId id="527" r:id="rId10"/>
    <p:sldId id="528" r:id="rId11"/>
    <p:sldId id="529" r:id="rId12"/>
    <p:sldId id="530" r:id="rId13"/>
    <p:sldId id="532" r:id="rId14"/>
    <p:sldId id="531" r:id="rId15"/>
    <p:sldId id="533" r:id="rId16"/>
    <p:sldId id="534" r:id="rId17"/>
    <p:sldId id="535" r:id="rId18"/>
    <p:sldId id="536" r:id="rId19"/>
    <p:sldId id="395" r:id="rId20"/>
    <p:sldId id="517" r:id="rId21"/>
    <p:sldId id="516" r:id="rId22"/>
    <p:sldId id="518" r:id="rId23"/>
    <p:sldId id="520" r:id="rId24"/>
    <p:sldId id="521" r:id="rId25"/>
    <p:sldId id="537" r:id="rId26"/>
    <p:sldId id="522" r:id="rId27"/>
    <p:sldId id="523" r:id="rId28"/>
    <p:sldId id="538" r:id="rId29"/>
    <p:sldId id="539" r:id="rId30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>
          <a:srgbClr val="FF0000"/>
        </p14:laserClr>
      </p:ext>
      <p:ext uri="{2FDB2607-1784-4EEB-B798-7EB5836EED8A}">
        <p14:showMediaCtrls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"/>
      </p:ext>
    </p:extLst>
  </p:showPr>
  <p:clrMru>
    <a:srgbClr val="FFCA08"/>
  </p:clrMru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767"/>
    </p:ext>
    <p:ext uri="{FD5EFAAD-0ECE-453E-9831-46B23BE46B34}">
      <p15:chartTrackingRefBased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 snapVertSplitter="1" vertBarState="minimized">
    <p:restoredLeft sz="32727" autoAdjust="0"/>
    <p:restoredTop sz="94635" autoAdjust="0"/>
  </p:normalViewPr>
  <p:slideViewPr>
    <p:cSldViewPr snapToGrid="0">
      <p:cViewPr varScale="1">
        <p:scale>
          <a:sx n="100" d="100"/>
          <a:sy n="100" d="100"/>
        </p:scale>
        <p:origin x="-280" y="-1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30" Type="http://schemas.openxmlformats.org/officeDocument/2006/relationships/slide" Target="slides/slide26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9" Type="http://schemas.openxmlformats.org/officeDocument/2006/relationships/slide" Target="slides/slide5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3" Type="http://schemas.openxmlformats.org/officeDocument/2006/relationships/printerSettings" Target="printerSettings/printerSettings1.bin"/><Relationship Id="rId34" Type="http://schemas.openxmlformats.org/officeDocument/2006/relationships/tags" Target="tags/tag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pPr/>
              <a:t>11/6/25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pPr/>
              <a:t>11/6/25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079853"/>
            <a:ext cx="7478990" cy="143194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24F891E-404B-F131-1FD2-DA52545205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5730242"/>
            <a:ext cx="2336800" cy="3556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 baseline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B4524D4-F713-E563-D1A7-3E1DE52F19AE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-575" y="6309358"/>
            <a:ext cx="2426216" cy="54864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1C6B34C-C370-8252-62D0-6F16022CD408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-713064" y="2730369"/>
            <a:ext cx="1947336" cy="5212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D46D46B-5E31-55A0-FC35-87A4FB3A17E5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7062788" y="1728788"/>
            <a:ext cx="6858000" cy="340042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8F28BAF-E9F6-4963-C7E4-8992695668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22060AA-B148-12C6-E41B-250BD1D30C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8551D27-1EFF-B9D0-5995-4DD0450BB7D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12444235"/>
      </p:ext>
    </p:extLst>
  </p:cSld>
  <p:clrMapOvr>
    <a:masterClrMapping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617138"/>
            <a:ext cx="7835927" cy="131376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F866237-3EC3-0269-92E0-80E4D6E11C9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225" y="6076543"/>
            <a:ext cx="2155825" cy="305614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97D63AA-10AF-817C-3FA8-C3C3CD7F0F8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-664664" y="3164196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0785FC4-EF47-6A5D-4541-E3290578319B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0429B91-8BA2-60E1-F6A1-5A2359A9BA5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8791576" y="0"/>
            <a:ext cx="3400423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C161778-1D47-03FB-2618-74C2B6261B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B1058D4-5B1B-F17E-835A-97462D0DF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910C1ED-0F4E-7284-E1D0-5D5DCFA95E9D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94395392"/>
      </p:ext>
    </p:extLst>
  </p:cSld>
  <p:clrMapOvr>
    <a:masterClrMapping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34579FB-0535-0E7B-EA0D-AE079FAFEE7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16200000">
            <a:off x="4627037" y="-706963"/>
            <a:ext cx="2937934" cy="12191992"/>
          </a:xfrm>
          <a:custGeom>
            <a:avLst/>
            <a:gdLst>
              <a:gd name="connsiteX0" fmla="*/ 2937934 w 2937934"/>
              <a:gd name="connsiteY0" fmla="*/ 0 h 12191992"/>
              <a:gd name="connsiteX1" fmla="*/ 2937934 w 2937934"/>
              <a:gd name="connsiteY1" fmla="*/ 12191992 h 12191992"/>
              <a:gd name="connsiteX2" fmla="*/ 0 w 2937934"/>
              <a:gd name="connsiteY2" fmla="*/ 12191992 h 12191992"/>
              <a:gd name="connsiteX3" fmla="*/ 0 w 2937934"/>
              <a:gd name="connsiteY3" fmla="*/ 0 h 1219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7934" h="12191992">
                <a:moveTo>
                  <a:pt x="2937934" y="0"/>
                </a:moveTo>
                <a:lnTo>
                  <a:pt x="2937934" y="12191992"/>
                </a:lnTo>
                <a:lnTo>
                  <a:pt x="0" y="121919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140495"/>
            <a:ext cx="8229600" cy="262115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039647"/>
            <a:ext cx="8229600" cy="141409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AA1B559-C04E-A343-2813-FE2DB1923D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47105" y="5587422"/>
            <a:ext cx="3097790" cy="426362"/>
          </a:xfrm>
        </p:spPr>
        <p:txBody>
          <a:bodyPr lIns="0" tIns="0" rIns="0" bIns="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11A2608-63F3-731E-0A43-0E240CF5A8CC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472000" y="392006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E3CE49A-81F4-962F-8DCE-0F4B9D70585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472000" y="320006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635E175-A34B-F1FE-C21F-0191BB1621CC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449552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82B8042-5E77-A1E9-101E-5D1311F9F2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A28161E-DF2B-A395-AB41-52FF8492D8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08483ED-35CC-1B95-31BE-C835B41D6161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197173637"/>
      </p:ext>
    </p:extLst>
  </p:cSld>
  <p:clrMapOvr>
    <a:masterClrMapping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55E0A3A-BD31-2674-02EE-D5CC54C0DE6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3428999"/>
            <a:ext cx="12192000" cy="197061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774116"/>
            <a:ext cx="11460480" cy="1590543"/>
          </a:xfrm>
        </p:spPr>
        <p:txBody>
          <a:bodyPr lIns="0" tIns="0" rIns="0" bIns="0" anchor="t">
            <a:normAutofit/>
          </a:bodyPr>
          <a:lstStyle>
            <a:lvl1pPr algn="l"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563401"/>
            <a:ext cx="11460480" cy="756965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1794CE9-E819-5EF2-87AA-CD888A593F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79019" y="6400800"/>
            <a:ext cx="2743200" cy="393700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Picture Placeholder 14" descr="One tall building modern style black and white.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E7C4A80-E63C-3031-27DB-BBE012F410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12192000" cy="3687377"/>
          </a:xfrm>
          <a:custGeom>
            <a:avLst/>
            <a:gdLst>
              <a:gd name="connsiteX0" fmla="*/ 0 w 12192000"/>
              <a:gd name="connsiteY0" fmla="*/ 0 h 3687377"/>
              <a:gd name="connsiteX1" fmla="*/ 12192000 w 12192000"/>
              <a:gd name="connsiteY1" fmla="*/ 0 h 3687377"/>
              <a:gd name="connsiteX2" fmla="*/ 12192000 w 12192000"/>
              <a:gd name="connsiteY2" fmla="*/ 444499 h 3687377"/>
              <a:gd name="connsiteX3" fmla="*/ 11425238 w 12192000"/>
              <a:gd name="connsiteY3" fmla="*/ 444499 h 3687377"/>
              <a:gd name="connsiteX4" fmla="*/ 11425238 w 12192000"/>
              <a:gd name="connsiteY4" fmla="*/ 2391835 h 3687377"/>
              <a:gd name="connsiteX5" fmla="*/ 12192000 w 12192000"/>
              <a:gd name="connsiteY5" fmla="*/ 2391835 h 3687377"/>
              <a:gd name="connsiteX6" fmla="*/ 12192000 w 12192000"/>
              <a:gd name="connsiteY6" fmla="*/ 3687377 h 3687377"/>
              <a:gd name="connsiteX7" fmla="*/ 2426216 w 12192000"/>
              <a:gd name="connsiteY7" fmla="*/ 3687377 h 3687377"/>
              <a:gd name="connsiteX8" fmla="*/ 2426216 w 12192000"/>
              <a:gd name="connsiteY8" fmla="*/ 2963477 h 3687377"/>
              <a:gd name="connsiteX9" fmla="*/ 0 w 12192000"/>
              <a:gd name="connsiteY9" fmla="*/ 2963477 h 36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87377">
                <a:moveTo>
                  <a:pt x="0" y="0"/>
                </a:moveTo>
                <a:lnTo>
                  <a:pt x="12192000" y="0"/>
                </a:lnTo>
                <a:lnTo>
                  <a:pt x="12192000" y="444499"/>
                </a:lnTo>
                <a:lnTo>
                  <a:pt x="11425238" y="444499"/>
                </a:lnTo>
                <a:lnTo>
                  <a:pt x="11425238" y="2391835"/>
                </a:lnTo>
                <a:lnTo>
                  <a:pt x="12192000" y="2391835"/>
                </a:lnTo>
                <a:lnTo>
                  <a:pt x="12192000" y="3687377"/>
                </a:lnTo>
                <a:lnTo>
                  <a:pt x="2426216" y="3687377"/>
                </a:lnTo>
                <a:lnTo>
                  <a:pt x="2426216" y="2963477"/>
                </a:lnTo>
                <a:lnTo>
                  <a:pt x="0" y="296347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64F984E-6A1B-A033-4FBC-3158758B9A2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2963479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38D67BC-3BCF-76A8-9BF0-60648407292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10798455" y="1014376"/>
            <a:ext cx="2020327" cy="76676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959C312-642F-DE98-976D-2DBE2EAC42E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20AEAA7-DE9F-17B8-3F1D-002EC04537B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CA17B79-A16A-9D34-8092-50AE53A616D3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91756201"/>
      </p:ext>
    </p:extLst>
  </p:cSld>
  <p:clrMapOvr>
    <a:masterClrMapping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6624185-F7D1-FA60-1A95-7A114118DB86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5F970DC-4D95-E856-C011-166EE410B02B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9E11187-86CB-6B4B-4F55-B8E4A09946F8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CC8F2F8-2E90-744F-370E-A1F3349F998B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6355585"/>
      </p:ext>
    </p:extLst>
  </p:cSld>
  <p:clrMapOvr>
    <a:masterClrMapping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0DD8D16-D0C7-F3D2-48A8-A579B2B2891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318441" cy="402531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26560"/>
            <a:ext cx="6841490" cy="148209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6033C09-8FAE-F082-7CC9-7A1AC41094D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5760" y="5990748"/>
            <a:ext cx="2574925" cy="251143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Picture Placeholder 19" descr="One tall building modern style black and white.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7F5830D-261D-69B1-C97B-FDEBA7981C1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058F6DB-3386-E235-75C0-20558DA7F9A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1060450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FCF2573-CDFF-C67F-9717-D82E1044097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40968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30A6E7F-019D-AAF3-66DD-164C8903B3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68BF79F-F386-2FE8-A63D-939B3DBAE8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AF997D7-33AE-2BAA-B4B7-6740782D11B1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034481510"/>
      </p:ext>
    </p:extLst>
  </p:cSld>
  <p:clrMapOvr>
    <a:masterClrMapping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C52EA65-FC43-25C0-960D-AB8027D2420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0D97465-0A08-3AAC-3DDD-E6A85BBB6575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5BD3FE9-403D-4D43-E51A-2A3EE4F1393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0D3FB60-F35E-34D2-31A5-29537BF7CB1B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CC41857-42BF-61F4-ABBF-1DC106908D4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95039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preserve="1" userDrawn="1">
  <p:cSld name="Section Header,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0138" y="359917"/>
            <a:ext cx="6242770" cy="458889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0138" y="5152864"/>
            <a:ext cx="6233626" cy="126871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 descr="Closeup on person wearing glasses.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2E72972-EE2B-F497-1D5C-258895385D7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60741" y="634584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Picture Placeholder 12" descr="One person clapping and smiling.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208AAAC-B842-3E72-F9B0-65241B8AEA16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flipH="1">
            <a:off x="0" y="2788976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BEB5B2F-8E61-F43A-1D59-1F1F0DB377AF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16200000" flipH="1" flipV="1">
            <a:off x="464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62A2476-1589-B9D9-5D0A-5553436AAA7F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H="1" flipV="1">
            <a:off x="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8" name="Isosceles Triangle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64A9B18-35DE-8478-ED82-3451640D6BB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360741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5793E1B-71D7-81F6-2EA3-143FFFB556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9580" y="6527800"/>
            <a:ext cx="2743200" cy="266700"/>
          </a:xfrm>
        </p:spPr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89336AE-C792-931C-745B-768B83BAB6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C93A66C-FF0F-B424-A72E-EB9BA06F2F06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08223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3C6A8A3-9676-1270-FE11-AFA86441A3D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8C2484B-7B39-764B-EB05-85CE011F8CA8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FF2AAFB-B709-A48B-6919-72E9012D8716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170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2017B91-2EEB-9FBA-8E16-2096C92E2D0C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287DD1D-8A12-5CFA-F182-60F767DC3DC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11429CA-5A33-DA3D-D3DB-C42D85B101E5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ABE2A89-7B53-F3AA-992C-F5FDFD47CDA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B265DE7-BDB8-455C-68D7-DD625535723F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D5BD527-816C-E329-0634-ECEF4B25EFBF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068113E-4A0A-6AB4-BD3C-E1CF8F28240F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CD9FE95-F8A6-B6DC-2180-731FDE4996E8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7B347C0-3F8F-587A-5A99-49B8508015EE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37BF549-9163-2374-1589-671786ABE6F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7415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F9358B1-1779-1D7A-CAE5-80DDD012903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2576946"/>
            <a:ext cx="10504000" cy="33805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2017B91-2EEB-9FBA-8E16-2096C92E2D0C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287DD1D-8A12-5CFA-F182-60F767DC3DC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11429CA-5A33-DA3D-D3DB-C42D85B101E5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022861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DEE9CD0-B455-1E74-A596-42C0F0DC9D68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97C5841-2433-4CFD-F83F-66F81267789C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005AF67-A3F8-DF0E-32A3-C7E02927F066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31164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028A1A0-2083-B54D-21DA-8A3C0A17BD2C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E6104D1-FC74-C850-B56F-797E7DAD670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4128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4888504-5BF2-3499-7E28-49F0F0ECE7E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83C4DB0-1484-674B-C4BF-ED0DEABCD89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672492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2796B0F-CCA7-8447-3212-CDB33348DB93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CB90B01-ED01-B0C9-CDE6-0C720EA5CE66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7195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8EE05DE-F7F2-F99C-AAED-46EA83619DD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33F2A5A-610C-B2F7-6100-A84ADD610D5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5334CDE-7D24-0D75-BE29-F8A0AD5ABCEB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02972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AC714B0-0DDB-95CC-7C6E-830ED5777AD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D6EDCD4-6F29-8A2D-6FBA-DEC8CC671E15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72204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D6EDCD4-6F29-8A2D-6FBA-DEC8CC671E15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AC714B0-0DDB-95CC-7C6E-830ED5777AD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3111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DDC3130-A3C3-7AE6-BC41-5676558A929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09B643E-CE5D-1852-BB2C-C13807CF7F5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C9DB915-08DF-0AC5-9A2A-F401116E05C8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79431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77315A8-46EF-5456-554B-CFD019DDB16C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8F4515C-99B9-2D48-1FDB-724091897AE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3197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04B793B-FE1B-6285-CB8E-8986809C3F45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E9EF5B5-8530-E4D6-CF9A-48AD966AEC43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9CA5883-1BC2-4117-EA02-EC8AD2250CF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0D94238-F4ED-1581-5C30-F99B2DD3BE6E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92033DA-CD7B-15DF-86F6-0E2B9CC1BDDB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2BBB4F4-DBE8-A871-F021-41C278F66673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98163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7076EBE-8B9B-D80E-9D47-670E9B0CEEBC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E827913-4E68-200E-74E6-BA627AD330B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287268E-5E3E-2AD7-B2AC-3E79A405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4BFE119-0E16-F9DF-FDDF-999CD986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EE75046-A216-B975-2CE2-CAC7ADC2F4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90095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34F5E03-29BB-BE4A-E176-199F574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900FA5B-BE86-69EC-2B18-32D177B8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CBA68EB-985E-2769-ED1E-68DF9609ABE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55130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945532"/>
            <a:ext cx="10504000" cy="4080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EE4976D-B589-0C31-E7E9-4482138CF80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9F5D76E-8F7F-EBB8-F6C2-59CB707B8E78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04/26/2025</a:t>
            </a:r>
            <a:fld id="{990E4242-8CA0-457D-B3B1-7D78B4164321}" type="datetime1">
              <a:rPr lang="en-US" smtClean="0"/>
              <a:pPr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A527B57-46D4-DC53-E28F-8A420C84F53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71080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 lIns="0" tIns="0" rIns="0" bIns="0" anchor="ctr">
            <a:noAutofit/>
          </a:bodyPr>
          <a:lstStyle>
            <a:lvl1pPr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012AECC-AEEF-9D31-81F0-BCB9078C0AD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4960385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A2FA1EE-FD32-9C64-3B6B-7AC3E3803C7E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F2658BB-96CD-AE22-0752-A04D94B980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7F16505-EF88-827D-E3AA-E760AC687E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BE0F268-BF9C-C514-E532-F90259E6977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687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C2B6F59-ED68-51DC-A79B-DBB58FF845F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A9725C6-AC4C-0F93-49B1-C5DA56CFE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FCF279C-C717-2E57-C2ED-3895123B5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5FD4253-87B4-E013-4CA9-52ACDA3F511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1303089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6338" y="1110022"/>
            <a:ext cx="5681662" cy="4818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90280B4-6872-BA31-B1E5-F2FAF9A85E7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A2446B5-DBA6-557B-92E7-CE3595DF1233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D00271A-D627-7A0C-1E77-FD78A6DAA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0AF3BBE-43FC-FA7F-3C5B-0FB78E695A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37EC3EF-BAD7-BA7C-005E-1A7A28BAB38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68533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8500" y="848720"/>
            <a:ext cx="6159500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6B9B460-038F-94C6-5604-883BAEC6732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8AEA442-11FE-1B85-7968-9FE21AEDBD2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4D58676-1C6B-6FA9-251E-AC5FBEE2BB6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-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27641C1-A183-119C-6C5B-7AA58CE8714C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7768799" y="-1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5025243-1D75-D130-2A64-9D8D62A4DC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920B224-2FF4-03EF-2985-70266625D0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24CC9B9-1170-67B4-2F4C-55CFD0D4AB2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811384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0B57D9C-D3CB-6F60-3C0D-F86F2CA4318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9B5B1B9-F2C2-0F1F-6AEF-2EA9DAC9174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0887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1FBFB35-D32F-1F82-020A-29E90D232A9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23F0D57-3F85-E12F-FF1C-ECD9B950565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F127F55-1BB6-F04A-2011-F477F67E322B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59806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7C69A9E-7322-5194-13E2-93C7D700257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AB53FE1-7680-2C8E-70CF-D674972D387C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81753D4-DE4C-EA13-0F9D-BA983162613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90714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5EB0A70-04CD-26DE-BE20-EF655D8B75B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E4709C2-0D04-D67A-EAD6-46FA0B3DA7A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2170013-17CD-7570-6413-53FD1A329556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510420C-21EA-A137-94EA-7CB5AD5C28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C05FC22-F2D9-EF5B-0678-3678B4A14AC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8A4AF99-6BCE-53B0-C2F9-75CDEE4E2A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5D202A1-D991-7D10-0C19-6BEEA58CE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36329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47007C7-5340-21AB-9C7D-DEAEEEC51F9E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3CA70C1-F619-4E37-711E-3B0AD7A76F1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FD330A2-1BB8-0E4E-4029-7943C275F806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CA1D929-364A-512C-A838-1E811BAAA5D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85780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3" cy="192249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3" y="831918"/>
            <a:ext cx="400687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04EB612-D143-1C59-FAC1-BE3F2604E76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5478D54-1F0E-F8E7-4B93-88A2EC96AA2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0152C41-78FB-BD6F-653B-DE9008C187E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4A5EEFF-C284-0BE0-EEBD-B7F7F2C34F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9B1E30B-BC94-1D52-B8BF-39973F2E4B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4C942BB-555B-9390-C818-BD6DE5FAFF7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2DD0655-7FBE-20E6-B7D1-1148A340CD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135896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92B4E0B-09D2-1770-AF0A-79593CF5C03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5EDBA9A-BBB2-C38B-35AA-3332717F417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4B859A9-1821-2589-D888-96C351D1AE1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5AB366C-F93E-3AFB-D35B-4BC82E7C6A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E31A400-7DBA-6924-5C88-174738A75F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3C60CDC-3D11-6ABE-B5A5-D820E8ED660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8BA97A0-54BE-6E1F-F43D-7D7A45D74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548648"/>
            <a:ext cx="4361689" cy="347743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35912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30231" y="1970468"/>
            <a:ext cx="4512601" cy="40556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CDF053D-9E1A-5ADF-E378-BC1B594D5795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3C03305-0727-063D-F65D-52727C590A2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E5F2C52-862C-D359-D97F-E2F4BD5C67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5675291-1615-B740-A2A2-550AA0A853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AC1A756-7B83-B6D1-BB4B-EDA9B21DA39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0734579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616" y="1892623"/>
            <a:ext cx="4572000" cy="41334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39F7129-301F-37A1-8705-D22FCF30EF79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98D78AA-FF02-2016-CF6A-C287F8BFBE76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31F5CAE-1167-CB4F-9EA2-587063BB884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52FFC89-9C77-38D4-A1FD-0A2BAEA17C8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96BB193-0784-1AD4-B27A-84ED0D44275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7E318F5-7A38-F682-11AA-AE09CA3B7A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2BA7C28-F8FB-B78B-439E-C789066057D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8892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2" y="2539814"/>
            <a:ext cx="3401568" cy="348626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97690AD-7FA4-0418-6C03-72D30D2EA0A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C8158AE-2E1B-8E88-C942-74974BB4C22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ACE21C4-AC61-BA7B-3232-A517F53A3F3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6C585C3-C0FA-D85B-2063-2C94D333BB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7039C9C-1C0E-8A85-3890-EF9EA31C57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8E6F8DA-CA80-94AC-BE08-CBBC8037FC6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3652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38248"/>
            <a:ext cx="3401568" cy="34878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3CD1190-01A7-D05B-1964-F61E740CD1C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A18FB04-9E36-8821-63A6-D2D4B3017ECC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E234B26-4369-21D0-047C-F9011FF38D2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F409FD1-17D3-3619-19C3-BB912570FED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D7C7895-0784-619C-6257-88E7A3F26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792DFAC-502B-774F-51F2-AFC9F18FEAC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437452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4448" y="2970092"/>
            <a:ext cx="3273552" cy="29535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616BFE-87E7-15B1-BE25-55D1A05BFFE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3E786F4-E71D-CFC6-78CC-37D06217179F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F77F430-E16C-DB47-2D12-A6B6A0A530F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A589D42-6067-52C1-64C7-175E6BC6EB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B61FAC5-DA8E-3118-188C-90203A7E238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85337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8D5D10E-35CF-5B74-29A6-11679EB8C8F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9F69B48-F459-FF66-26A9-7EC00C9F7B4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991EAAD-5E54-2080-2B9B-B19E843B64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A91084A-93AC-072A-7367-DE9AE048A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8BE4C08-656F-090F-ADE8-832DD695E70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254354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2910" y="3785800"/>
            <a:ext cx="7366186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A4C43E1-0073-A35D-0A04-ED32FA1BF8F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49555A3-9265-EF73-CF8C-45D64D56FFBE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73EBA73-01F9-86A4-00C2-B8F864FAFC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246286F-948B-A354-C39B-0CCDE3D271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60247BB-0B45-F3B8-2827-87B286ED5D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634329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5972" y="839450"/>
            <a:ext cx="7312028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D85C6AE-2C4C-5E38-47AE-05318D667556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071C948-EB93-1CA0-72C9-A49862E4C5D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41D45D4-FE2B-EB10-39D7-EABDFE8EC6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06E03B1-F337-4DE6-A553-B870A5400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36CFA0A-FC5D-D0F9-EA38-A0E0E192373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370176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90520" y="2081048"/>
            <a:ext cx="4023360" cy="3918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879A9D4-2DE0-F5AB-C643-7D6C624F518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D787054-1839-E686-38C1-14B88403914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2081048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385589B-ED64-F606-AD4D-82558DFE2F9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2EE6E25-8F36-46AA-7353-63CD48AEA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F67EEA2-3419-D7B3-9621-57F8695BB18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688722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38648" y="831919"/>
            <a:ext cx="5609353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B5DC763-7A3E-F543-D730-F1D0DB8E723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BD5A08B-EED8-797D-F25E-F1027E0C206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90AF34F-C900-E182-C79E-F87C625DAD1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7400220-A3EA-A5A4-0CE3-CD8DBA62B9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4A8548E-F7FA-ADF2-255A-A393995E0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0C31298-3111-9F68-2490-97F4A8DB37E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3426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F8EA658-2652-6F81-1B04-D50C60A3F17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1186" y="831919"/>
            <a:ext cx="6586814" cy="515235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5FFA936-7860-03EC-833F-6A837DCB4A4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23AC08E-BB10-EDBA-C0E3-558A1F4618D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362DB80-9F02-EB8E-FC5F-14EB115DD37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2EEC586-446A-7442-E39B-030A8C7850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F4B311C-F361-BA00-37B8-7634DBDFA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0591745-C6C1-1702-1C5A-3F5C1383BD8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51139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9E8EB8E-D63B-6AF9-B3A0-B05D41CD86F3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48AF7A1-40D5-5DBA-10C9-828BAC169E6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EEC1DE6-0C7C-1CAF-7C78-5D609369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957C0A9-12CC-9AFC-8344-6631331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42C7CCB-E1D6-437F-A321-AC311F05559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07168664"/>
      </p:ext>
    </p:extLst>
  </p:cSld>
  <p:clrMapOvr>
    <a:masterClrMapping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0AE8DFC-9941-7AAD-BE59-0C47E3A3D351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D599065-206D-B396-91F8-07BD1D0B158B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E3C41CC-3994-216B-257A-9EF4033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FC14F33-A50F-76BC-E256-41A00023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468ED4B-8927-6920-5B11-CF5655D4460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7749892"/>
      </p:ext>
    </p:extLst>
  </p:cSld>
  <p:clrMapOvr>
    <a:masterClrMapping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93814EA-F598-EBFD-83D1-6782D7CBB598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bg2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B8163FF-4732-F569-E5D9-9B6A2B0C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058DED8-3ECE-DBAC-089A-2CA6ED2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21E5DAD-47E7-5589-A6AC-9B13B86A10E0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9255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C2F8FA1-07E9-4B86-7FE6-89A71303242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2EE4FA8-C14D-42BE-7F2F-3EC2A325662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32A21E5-0951-8C64-839E-74A736BB5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6A661DC-AC19-7062-B8F5-8F4A2BB0F7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7B27A9A-1BE2-BB2E-2CBA-D212DFEC3D7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330352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2D94787-2437-0D44-4DC0-5BF87C1E4CC9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6134100"/>
            <a:ext cx="185398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66DC4A4-5BC3-6A6B-8176-7BBAE4333D9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10616942" y="363855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FAC22A6-DAD3-172B-2EB3-FFCC78ECE8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5E89CB7-4D3B-AFD6-E514-8785D7C632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3FF7D4F-E910-621B-FBA2-BE8B3CADEED9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19791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C75204E-6665-1741-E3D7-F49BC009A08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10616942" y="139979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185E67F-DBF6-C265-5156-18A6640D08CB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0937497" y="543001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7F634C7-BDBE-F74F-0DD6-497555F74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C5398AA-835E-B4A0-899B-7F8F1FB510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52C05F7-BD8A-E7E0-8BC7-A2AA2C1F712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101898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962006A-7A6E-64B1-877A-0C57CD52675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16200000">
            <a:off x="-851158" y="265557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BC863B5-260B-6940-CC7B-7FEF1C9889A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0937497" y="5299974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DB898FB-5C3D-C237-A1F3-7D1A698D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F9E07D4-DFB1-0BD8-ED01-8DBACA0B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C0288F-EB42-E0B4-4B02-6E89CDA9DD1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15926835"/>
      </p:ext>
    </p:extLst>
  </p:cSld>
  <p:clrMapOvr>
    <a:masterClrMapping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05E8BA8-BCB0-A21C-E1D5-6671C670E628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86F67E0-E1D7-D3B1-13D7-0078153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954D3C5-6449-30B8-7A03-C3037417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98957B6-1D68-2616-29D0-E0C8BAD6C60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227561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6ABBB03-AFDB-81BD-70C3-D82D136C82C6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16200000">
            <a:off x="9704644" y="2904067"/>
            <a:ext cx="3924846" cy="1049867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54DF4FF-0F4F-E0DF-A8BE-06843DB7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9DC9C00-2D6F-F5A7-EBD5-B98FD68B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6F8A836-067A-6986-1DD8-8B993AF731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43856251"/>
      </p:ext>
    </p:extLst>
  </p:cSld>
  <p:clrMapOvr>
    <a:masterClrMapping/>
  </p:clrMapOvr>
  <p:extLst>
    <p:ext uri="{DCECCB84-F9BA-43D5-87BE-67443E8EF086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EF54682-8F32-1FB8-5785-1FA2F6F71C9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3A95296-5CDA-E3B3-0B57-4566F9E12B3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16200000">
            <a:off x="-265301" y="109722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9759082-3FD3-AD43-8FA5-565BDFB9ED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8590839-8D9C-7FDA-3B8C-73E3E1A5E3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5657629-536B-9BFB-EC51-1247E178D5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090420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4B0C123-9686-1617-39D2-ADE5CB58648D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" y="6298167"/>
            <a:ext cx="12192000" cy="559834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0D3B3C2-1BB1-17EC-DF54-658C48FEB3D8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flipV="1">
            <a:off x="7768799" y="6298164"/>
            <a:ext cx="4423201" cy="559836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5C3E60D-570F-0D6C-C377-531B3091F5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937B375-5A3B-9658-B6A4-93F05EA8B1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51FFEBF-4C88-45B8-F189-5E606F1BA5E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81438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92033DA-CD7B-15DF-86F6-0E2B9CC1BDDB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2BBB4F4-DBE8-A871-F021-41C278F66673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732B1A8-9A4C-2F87-F5FE-86FAA84D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776EF97-0947-9B9B-4BE7-6965904B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0588A54-7EB8-6DB9-632B-D8EC53B90B7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274420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BE9E4D4-DECE-2646-7295-257467AA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A8F21E1-29AB-9E64-9FEA-A6D85C80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0EA14B9-F25F-51D7-746A-023A6F0C047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513064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C7D082-4357-BB5A-753E-4B6EA3EC4187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-265301" y="1097220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BAC39D4-5856-D842-EA76-04E9A2EB7CAA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4024502-4354-E2B9-D897-9ED23267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59B090B-7CBB-F1AA-D446-7393B635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56D8E8D-6E50-B72D-9F2D-FDBED2DF776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43100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571C769-CEC8-962A-01E6-15B0E056791E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27DE7F7-878C-3AF0-EA9B-1DE8C71EA404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-265302" y="5036877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5699C92D-BDAD-4000-0449-3E584792C383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16200000">
            <a:off x="10616942" y="85115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948647A-4BED-5556-E983-B52BA3C4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79308FD-A67C-55A5-38D4-C826485F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DD0E670-C768-E39D-4354-EE022571C79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62772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F34FB20-BE4A-0B89-93B2-F2C8BBD5015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-533660" y="1365579"/>
            <a:ext cx="1791219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7006229-5A5A-3798-EEFB-9570D3BCACC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16200000">
            <a:off x="10458450" y="4290146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9426CCE-903F-787D-DC5C-FF2BF81B25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90D41AC-533B-8C43-568C-2D0673A144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CDAB259-04D2-2425-A747-8E7D71236A5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723892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FDCED18-C414-F7C6-D98C-8B3AC35E6C7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16200000">
            <a:off x="9751085" y="2789766"/>
            <a:ext cx="3603364" cy="1278467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36CD2F2-0F5F-A7AB-8F92-3AF43CD57F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78D6886-AD32-51ED-233D-D0CF622308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E20AA7E-90A7-E423-3DEE-3B4B57FE119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07576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EC883F5-7BE7-D1A3-93C9-9C475A2CB860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34F1FF0-4427-86A3-4D78-0F719ED7FEF9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601B0E6-3C72-DA7C-AABE-BEB976EAD38F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8308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theme" Target="../theme/theme1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7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70"/>
              <a:t>Click to edit Master text styles</a:t>
            </a:r>
            <a:endParaRPr lang="en-US"/>
          </a:p>
          <a:p>
            <a:pPr lvl="1"/>
            <a:r>
              <a:rPr lang="en-US" sz="1470"/>
              <a:t>Second level</a:t>
            </a:r>
          </a:p>
          <a:p>
            <a:pPr lvl="2"/>
            <a:r>
              <a:rPr lang="en-US" sz="1470"/>
              <a:t>Third level</a:t>
            </a:r>
          </a:p>
          <a:p>
            <a:pPr lvl="3"/>
            <a:r>
              <a:rPr lang="en-US" sz="1470"/>
              <a:t>Fourth level</a:t>
            </a:r>
          </a:p>
          <a:p>
            <a:pPr lvl="4"/>
            <a:r>
              <a:rPr lang="en-US" sz="147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/>
          </p:nvPr>
        </p:nvSpPr>
        <p:spPr>
          <a:xfrm>
            <a:off x="657225" y="6527800"/>
            <a:ext cx="2743200" cy="266700"/>
          </a:xfrm>
        </p:spPr>
        <p:txBody>
          <a:bodyPr lIns="0" tIns="0" rIns="0" bIns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3/5/2025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/>
          </p:nvPr>
        </p:nvSpPr>
        <p:spPr>
          <a:xfrm>
            <a:off x="4267200" y="6527800"/>
            <a:ext cx="3657600" cy="266700"/>
          </a:xfrm>
        </p:spPr>
        <p:txBody>
          <a:bodyPr lIns="0" tIns="0" rIns="0" bIns="0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/>
          </p:nvPr>
        </p:nvSpPr>
        <p:spPr>
          <a:xfrm>
            <a:off x="9378949" y="6527800"/>
            <a:ext cx="2136775" cy="266700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  <p:sldLayoutId r:id="rId12"/>
    <p:sldLayoutId r:id="rId13"/>
    <p:sldLayoutId r:id="rId14"/>
    <p:sldLayoutId r:id="rId15"/>
    <p:sldLayoutId r:id="rId16"/>
    <p:sldLayoutId r:id="rId17"/>
    <p:sldLayoutId r:id="rId18"/>
    <p:sldLayoutId r:id="rId19"/>
    <p:sldLayoutId r:id="rId20"/>
    <p:sldLayoutId r:id="rId21"/>
    <p:sldLayoutId r:id="rId22"/>
    <p:sldLayoutId r:id="rId23"/>
    <p:sldLayoutId r:id="rId24"/>
    <p:sldLayoutId r:id="rId25"/>
    <p:sldLayoutId r:id="rId26"/>
    <p:sldLayoutId r:id="rId27"/>
    <p:sldLayoutId r:id="rId28"/>
    <p:sldLayoutId r:id="rId29"/>
    <p:sldLayoutId r:id="rId30"/>
    <p:sldLayoutId r:id="rId31"/>
    <p:sldLayoutId r:id="rId32"/>
    <p:sldLayoutId r:id="rId33"/>
    <p:sldLayoutId r:id="rId34"/>
    <p:sldLayoutId r:id="rId35"/>
    <p:sldLayoutId r:id="rId36"/>
    <p:sldLayoutId r:id="rId37"/>
    <p:sldLayoutId r:id="rId38"/>
    <p:sldLayoutId r:id="rId39"/>
    <p:sldLayoutId r:id="rId40"/>
    <p:sldLayoutId r:id="rId41"/>
    <p:sldLayoutId r:id="rId42"/>
    <p:sldLayoutId r:id="rId43"/>
    <p:sldLayoutId r:id="rId44"/>
    <p:sldLayoutId r:id="rId45"/>
    <p:sldLayoutId r:id="rId46"/>
    <p:sldLayoutId r:id="rId47"/>
    <p:sldLayoutId r:id="rId48"/>
    <p:sldLayoutId r:id="rId49"/>
    <p:sldLayoutId r:id="rId50"/>
    <p:sldLayoutId r:id="rId51"/>
    <p:sldLayoutId r:id="rId52"/>
    <p:sldLayoutId r:id="rId53"/>
    <p:sldLayoutId r:id="rId54"/>
    <p:sldLayoutId r:id="rId55"/>
    <p:sldLayoutId r:id="rId56"/>
    <p:sldLayoutId r:id="rId57"/>
    <p:sldLayoutId r:id="rId58"/>
    <p:sldLayoutId r:id="rId59"/>
    <p:sldLayoutId r:id="rId60"/>
    <p:sldLayoutId r:id="rId61"/>
    <p:sldLayoutId r:id="rId62"/>
    <p:sldLayoutId r:id="rId63"/>
    <p:sldLayoutId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9505C81-7592-A9B6-9A49-51C38F20A35B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Sistemas de Gestión Empresarial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8DCEE19-DDF9-070E-AB7A-EF04DFB3B8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dirty="0" err="1"/>
              <a:t>Tema</a:t>
            </a:r>
            <a:r>
              <a:rPr lang="en-US" altLang="zh-CN" b="1" dirty="0"/>
              <a:t> 3</a:t>
            </a:r>
          </a:p>
          <a:p>
            <a:r>
              <a:rPr lang="es-ES" b="1" dirty="0"/>
              <a:t>Salesforce en entorno desarrollador</a:t>
            </a:r>
          </a:p>
          <a:p>
            <a:endParaRPr lang="en-US" altLang="zh-CN" b="1" dirty="0"/>
          </a:p>
          <a:p>
            <a:r>
              <a:rPr lang="en-US" altLang="zh-CN" dirty="0"/>
              <a:t>llanos.soro@educa.madrid.org</a:t>
            </a:r>
          </a:p>
          <a:p>
            <a:endParaRPr lang="zh-CN" altLang="en-US" dirty="0"/>
          </a:p>
        </p:txBody>
      </p:sp>
      <p:pic>
        <p:nvPicPr>
          <p:cNvPr id="2" name="Picture Placeholder 7" descr="AI-generated image of a modern architectural building with sharp angles and reflective glass windows.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CC8C5F3-0DDC-03C0-E03B-C85247D81CE2}"/>
              </a:ext>
              <a:ext uri="{C183D7F6-B498-43B3-948B-1728B52AA6E4}">
                <adec:decorative xmlns:adec="http://schemas.microsoft.com/office/drawing/2017/decorative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/>
        </p:blipFill>
        <p:spPr>
          <a:xfrm>
            <a:off x="0" y="0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9631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20296E95-9B0C-4EC1-9980-C3F4F6A53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29896"/>
            <a:ext cx="6135624" cy="896474"/>
          </a:xfrm>
        </p:spPr>
        <p:txBody>
          <a:bodyPr/>
          <a:lstStyle/>
          <a:p>
            <a:r>
              <a:rPr lang="en-US" dirty="0" err="1"/>
              <a:t>Objetivos</a:t>
            </a:r>
            <a:r>
              <a:rPr lang="en-US" dirty="0"/>
              <a:t> del </a:t>
            </a:r>
            <a:r>
              <a:rPr lang="en-US" dirty="0" err="1"/>
              <a:t>tema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FCB56FB-552F-5A4B-085F-DC35C50D474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62736" y="1398881"/>
            <a:ext cx="6937715" cy="3157929"/>
          </a:xfrm>
        </p:spPr>
        <p:txBody>
          <a:bodyPr lIns="0" tIns="0" rIns="0" bIns="0">
            <a:noAutofit/>
          </a:bodyPr>
          <a:lstStyle/>
          <a:p>
            <a:r>
              <a:rPr lang="es-ES" sz="2800" dirty="0"/>
              <a:t>1. Desarrollador Salesforce</a:t>
            </a:r>
          </a:p>
          <a:p>
            <a:r>
              <a:rPr lang="es-ES" sz="2800" dirty="0"/>
              <a:t>2. </a:t>
            </a:r>
            <a:r>
              <a:rPr lang="es-ES_tradnl" sz="2800" dirty="0"/>
              <a:t> Modelo de datos: objetos estándar vs. personalizados</a:t>
            </a:r>
            <a:r>
              <a:rPr lang="es-ES" sz="2800" dirty="0"/>
              <a:t> </a:t>
            </a:r>
          </a:p>
          <a:p>
            <a:r>
              <a:rPr lang="es-ES" sz="2800" dirty="0"/>
              <a:t>3. Relaciones entre objetos</a:t>
            </a:r>
          </a:p>
          <a:p>
            <a:r>
              <a:rPr lang="es-ES" sz="2800" dirty="0"/>
              <a:t>4. S</a:t>
            </a:r>
            <a:r>
              <a:rPr lang="es-ES_tradnl" sz="2800" dirty="0" err="1"/>
              <a:t>eguridad</a:t>
            </a:r>
            <a:r>
              <a:rPr lang="es-ES_tradnl" sz="2800" dirty="0"/>
              <a:t>: perfiles, roles, permisos y </a:t>
            </a:r>
            <a:r>
              <a:rPr lang="es-ES_tradnl" sz="2800" dirty="0" err="1"/>
              <a:t>sharing</a:t>
            </a:r>
            <a:r>
              <a:rPr lang="es-ES_tradnl" sz="2800" dirty="0"/>
              <a:t> rules</a:t>
            </a:r>
            <a:r>
              <a:rPr lang="es-ES" sz="2800" dirty="0"/>
              <a:t> </a:t>
            </a:r>
          </a:p>
        </p:txBody>
      </p:sp>
      <p:pic>
        <p:nvPicPr>
          <p:cNvPr id="14" name="Picture Placeholder 13" descr="Two people collaborating at a computer.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A5C565C-5FD3-821D-1BF8-583E98BD976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/>
              </a:ext>
            </a:extLst>
          </a:blip>
          <a:srcRect l="41" r="41"/>
          <a:stretch/>
        </p:blipFill>
        <p:spPr>
          <a:xfrm>
            <a:off x="7300452" y="831918"/>
            <a:ext cx="4006875" cy="5194161"/>
          </a:xfr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859168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3916FD9-165B-7011-3424-9AD1D0BF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4E1ACE8-E669-4F8B-AE5E-BEF8A6129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99430289"/>
              </p:ext>
            </p:extLst>
          </p:nvPr>
        </p:nvGraphicFramePr>
        <p:xfrm>
          <a:off x="844000" y="886781"/>
          <a:ext cx="10503999" cy="4578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3999">
                  <a:extLst>
                    <a:ext uri="{9D8B030D-6E8A-4147-A177-3AD203B41FA5}">
                      <a16:col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3116556260"/>
                    </a:ext>
                  </a:extLst>
                </a:gridCol>
              </a:tblGrid>
              <a:tr h="747327"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chemeClr val="tx1"/>
                          </a:solidFill>
                        </a:rPr>
                        <a:t>Principios</a:t>
                      </a:r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 de un </a:t>
                      </a:r>
                      <a:r>
                        <a:rPr lang="en-US" sz="3600" dirty="0" err="1">
                          <a:solidFill>
                            <a:schemeClr val="tx1"/>
                          </a:solidFill>
                        </a:rPr>
                        <a:t>desarrollador</a:t>
                      </a:r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 Salesforce</a:t>
                      </a:r>
                      <a:endParaRPr lang="es-E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4199521299"/>
                  </a:ext>
                </a:extLst>
              </a:tr>
              <a:tr h="383112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 dirty="0">
                          <a:effectLst/>
                        </a:rPr>
                        <a:t>Los principios de un desarrollador Salesforce incluyen el dominio de las tecnologías de la plataforma (como </a:t>
                      </a:r>
                      <a:r>
                        <a:rPr lang="es-ES" sz="2000" b="1" dirty="0" err="1">
                          <a:effectLst/>
                        </a:rPr>
                        <a:t>Apex</a:t>
                      </a:r>
                      <a:r>
                        <a:rPr lang="es-ES" sz="2000" b="1" dirty="0">
                          <a:effectLst/>
                        </a:rPr>
                        <a:t> y JavaScript), </a:t>
                      </a:r>
                      <a:r>
                        <a:rPr lang="es-ES" sz="2000" b="0" dirty="0">
                          <a:effectLst/>
                        </a:rPr>
                        <a:t>la capacidad de integración con sistemas externos a través de </a:t>
                      </a:r>
                      <a:r>
                        <a:rPr lang="es-ES" sz="2000" b="0" dirty="0" err="1">
                          <a:effectLst/>
                        </a:rPr>
                        <a:t>APIs</a:t>
                      </a:r>
                      <a:r>
                        <a:rPr lang="es-ES" sz="2000" b="0" dirty="0">
                          <a:effectLst/>
                        </a:rPr>
                        <a:t>, y la creación de soluciones personalizadas que extiendan la funcionalidad del CRM</a:t>
                      </a:r>
                      <a:r>
                        <a:rPr lang="es-E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También es fundamental alinearse con los valores centrales de Salesforce (confianza, innovación, éxito del cliente, sostenibilidad y equidad), pensar de forma arquitectónica, utilizar herramientas tanto de código como sin código, y enfocarse en el</a:t>
                      </a:r>
                      <a:r>
                        <a:rPr lang="es-ES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análisis de requisitos y el diseño de soluciones efectivas</a:t>
                      </a:r>
                      <a:r>
                        <a:rPr lang="es-E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es-E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2560905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715670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3916FD9-165B-7011-3424-9AD1D0BF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4E1ACE8-E669-4F8B-AE5E-BEF8A6129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199787638"/>
              </p:ext>
            </p:extLst>
          </p:nvPr>
        </p:nvGraphicFramePr>
        <p:xfrm>
          <a:off x="844000" y="886781"/>
          <a:ext cx="10503999" cy="5118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3999">
                  <a:extLst>
                    <a:ext uri="{9D8B030D-6E8A-4147-A177-3AD203B41FA5}">
                      <a16:col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3116556260"/>
                    </a:ext>
                  </a:extLst>
                </a:gridCol>
              </a:tblGrid>
              <a:tr h="747327"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chemeClr val="tx1"/>
                          </a:solidFill>
                        </a:rPr>
                        <a:t>Principios</a:t>
                      </a:r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 de un </a:t>
                      </a:r>
                      <a:r>
                        <a:rPr lang="en-US" sz="3600" dirty="0" err="1">
                          <a:solidFill>
                            <a:schemeClr val="tx1"/>
                          </a:solidFill>
                        </a:rPr>
                        <a:t>desarrollador</a:t>
                      </a:r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 Salesforce</a:t>
                      </a:r>
                      <a:endParaRPr lang="es-E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4199521299"/>
                  </a:ext>
                </a:extLst>
              </a:tr>
              <a:tr h="3831123">
                <a:tc>
                  <a:txBody>
                    <a:bodyPr/>
                    <a:lstStyle/>
                    <a:p>
                      <a:r>
                        <a:rPr lang="es-ES" sz="2000" b="1" dirty="0"/>
                        <a:t>Responsabilidades clave</a:t>
                      </a:r>
                    </a:p>
                    <a:p>
                      <a:endParaRPr lang="es-ES" sz="20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Análisis de requisitos:</a:t>
                      </a:r>
                      <a:r>
                        <a:rPr lang="es-ES" sz="2000" dirty="0"/>
                        <a:t> Recolectar y comprender las necesidades específicas de los usuarios y las empresas.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Diseño de soluciones:</a:t>
                      </a:r>
                      <a:r>
                        <a:rPr lang="es-ES" sz="2000" dirty="0"/>
                        <a:t> Crear planes para aplicaciones personalizadas e integraciones en la plataforma Salesforce.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Desarrollo y pruebas:</a:t>
                      </a:r>
                      <a:r>
                        <a:rPr lang="es-ES" sz="2000" dirty="0"/>
                        <a:t> Escribir código en lenguajes como </a:t>
                      </a:r>
                      <a:r>
                        <a:rPr lang="es-ES" sz="2000" dirty="0" err="1"/>
                        <a:t>Apex</a:t>
                      </a:r>
                      <a:r>
                        <a:rPr lang="es-ES" sz="2000" dirty="0"/>
                        <a:t> y JavaScript para construir y probar aplicaciones de software.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Personalización de aplicaciones:</a:t>
                      </a:r>
                      <a:r>
                        <a:rPr lang="es-ES" sz="2000" dirty="0"/>
                        <a:t> Usar herramientas como </a:t>
                      </a:r>
                      <a:r>
                        <a:rPr lang="es-ES" sz="2000" i="1" dirty="0" err="1"/>
                        <a:t>Lightning</a:t>
                      </a:r>
                      <a:r>
                        <a:rPr lang="es-ES" sz="2000" i="1" dirty="0"/>
                        <a:t> App </a:t>
                      </a:r>
                      <a:r>
                        <a:rPr lang="es-ES" sz="2000" i="1" dirty="0" err="1"/>
                        <a:t>Builder</a:t>
                      </a:r>
                      <a:r>
                        <a:rPr lang="es-ES" sz="2000" dirty="0"/>
                        <a:t> para configurar y personalizar interfaces de usuario.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Integración de sistemas:</a:t>
                      </a:r>
                      <a:r>
                        <a:rPr lang="es-ES" sz="2000" dirty="0"/>
                        <a:t> Conectar Salesforce con otros servicios web y sistemas mediante </a:t>
                      </a:r>
                      <a:r>
                        <a:rPr lang="es-ES" sz="2000" dirty="0" err="1"/>
                        <a:t>APIs</a:t>
                      </a:r>
                      <a:r>
                        <a:rPr lang="es-ES" sz="2000" dirty="0"/>
                        <a:t>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Mantenimiento y actualización:</a:t>
                      </a:r>
                      <a:r>
                        <a:rPr lang="es-ES" sz="2000" dirty="0"/>
                        <a:t> Asegurar que las aplicaciones sean seguras, escalables y estén actualizadas con las últimas funciones de Salesforce.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2560905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6877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3916FD9-165B-7011-3424-9AD1D0BF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4E1ACE8-E669-4F8B-AE5E-BEF8A6129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57448172"/>
              </p:ext>
            </p:extLst>
          </p:nvPr>
        </p:nvGraphicFramePr>
        <p:xfrm>
          <a:off x="844000" y="886781"/>
          <a:ext cx="10503999" cy="5118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3999">
                  <a:extLst>
                    <a:ext uri="{9D8B030D-6E8A-4147-A177-3AD203B41FA5}">
                      <a16:col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3116556260"/>
                    </a:ext>
                  </a:extLst>
                </a:gridCol>
              </a:tblGrid>
              <a:tr h="747327"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chemeClr val="tx1"/>
                          </a:solidFill>
                        </a:rPr>
                        <a:t>Principios</a:t>
                      </a:r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 de un </a:t>
                      </a:r>
                      <a:r>
                        <a:rPr lang="en-US" sz="3600" dirty="0" err="1">
                          <a:solidFill>
                            <a:schemeClr val="tx1"/>
                          </a:solidFill>
                        </a:rPr>
                        <a:t>desarrollador</a:t>
                      </a:r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 Salesforce</a:t>
                      </a:r>
                      <a:endParaRPr lang="es-E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4199521299"/>
                  </a:ext>
                </a:extLst>
              </a:tr>
              <a:tr h="3831123">
                <a:tc>
                  <a:txBody>
                    <a:bodyPr/>
                    <a:lstStyle/>
                    <a:p>
                      <a:r>
                        <a:rPr lang="es-ES" sz="2000" b="1" dirty="0"/>
                        <a:t>Habilidades principales</a:t>
                      </a:r>
                    </a:p>
                    <a:p>
                      <a:endParaRPr lang="es-ES" sz="20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Lenguajes específicos de Salesforce:</a:t>
                      </a:r>
                      <a:r>
                        <a:rPr lang="es-ES" sz="2000" dirty="0"/>
                        <a:t> Dominio de </a:t>
                      </a:r>
                      <a:r>
                        <a:rPr lang="es-ES" sz="2000" dirty="0" err="1"/>
                        <a:t>Apex</a:t>
                      </a:r>
                      <a:r>
                        <a:rPr lang="es-ES" sz="2000" dirty="0"/>
                        <a:t>, el lenguaje de programación propietario de Salesforce.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Lenguajes de programación:</a:t>
                      </a:r>
                      <a:r>
                        <a:rPr lang="es-ES" sz="2000" dirty="0"/>
                        <a:t> Conocimientos de Java y JavaScript para añadir elementos interactivos y desarrollar más funcionalidades en las aplicaciones.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Desarrollo </a:t>
                      </a:r>
                      <a:r>
                        <a:rPr lang="es-ES" sz="2000" b="1" dirty="0" err="1"/>
                        <a:t>frontend</a:t>
                      </a:r>
                      <a:r>
                        <a:rPr lang="es-ES" sz="2000" b="1" dirty="0"/>
                        <a:t>:</a:t>
                      </a:r>
                      <a:r>
                        <a:rPr lang="es-ES" sz="2000" dirty="0"/>
                        <a:t> Experiencia </a:t>
                      </a:r>
                      <a:r>
                        <a:rPr lang="es-ES" sz="2000" b="1" i="0" dirty="0"/>
                        <a:t>con </a:t>
                      </a:r>
                      <a:r>
                        <a:rPr lang="es-ES" sz="2000" b="1" i="0" dirty="0" err="1"/>
                        <a:t>Lightning</a:t>
                      </a:r>
                      <a:r>
                        <a:rPr lang="es-ES" sz="2000" b="1" i="0" dirty="0"/>
                        <a:t> </a:t>
                      </a:r>
                      <a:r>
                        <a:rPr lang="es-ES" sz="2000" b="1" i="0" dirty="0" err="1"/>
                        <a:t>Component</a:t>
                      </a:r>
                      <a:r>
                        <a:rPr lang="es-ES" sz="2000" b="1" i="0" dirty="0"/>
                        <a:t> Framework </a:t>
                      </a:r>
                      <a:r>
                        <a:rPr lang="es-ES" sz="2000" dirty="0"/>
                        <a:t>y CSS para diseñar y estructurar páginas web.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Desarrollo </a:t>
                      </a:r>
                      <a:r>
                        <a:rPr lang="es-ES" sz="2000" b="1" dirty="0" err="1"/>
                        <a:t>backend</a:t>
                      </a:r>
                      <a:r>
                        <a:rPr lang="es-ES" sz="2000" b="1" dirty="0"/>
                        <a:t>:</a:t>
                      </a:r>
                      <a:r>
                        <a:rPr lang="es-ES" sz="2000" dirty="0"/>
                        <a:t> Comprensión de consultas SOQL (</a:t>
                      </a:r>
                      <a:r>
                        <a:rPr lang="es-ES" sz="2000" b="1" i="0" dirty="0"/>
                        <a:t>Salesforce </a:t>
                      </a:r>
                      <a:r>
                        <a:rPr lang="es-ES" sz="2000" b="1" i="0" dirty="0" err="1"/>
                        <a:t>Object</a:t>
                      </a:r>
                      <a:r>
                        <a:rPr lang="es-ES" sz="2000" b="1" i="0" dirty="0"/>
                        <a:t> </a:t>
                      </a:r>
                      <a:r>
                        <a:rPr lang="es-ES" sz="2000" b="1" i="0" dirty="0" err="1"/>
                        <a:t>Query</a:t>
                      </a:r>
                      <a:r>
                        <a:rPr lang="es-ES" sz="2000" b="1" i="0" dirty="0"/>
                        <a:t> </a:t>
                      </a:r>
                      <a:r>
                        <a:rPr lang="es-ES" sz="2000" b="1" i="0" dirty="0" err="1"/>
                        <a:t>Language</a:t>
                      </a:r>
                      <a:r>
                        <a:rPr lang="es-ES" sz="2000" dirty="0"/>
                        <a:t>), operaciones DML y </a:t>
                      </a:r>
                      <a:r>
                        <a:rPr lang="es-ES" sz="2000" i="1" dirty="0" err="1"/>
                        <a:t>triggers</a:t>
                      </a:r>
                      <a:r>
                        <a:rPr lang="es-ES" sz="2000" dirty="0"/>
                        <a:t>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Modelado de datos:</a:t>
                      </a:r>
                      <a:r>
                        <a:rPr lang="es-ES" sz="2000" dirty="0"/>
                        <a:t> Capacidad para crear y optimizar objetos personalizados que almacenen la información de la empresa de manera eficiente.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000" b="1" dirty="0"/>
                        <a:t>Resolución de problemas:</a:t>
                      </a:r>
                      <a:r>
                        <a:rPr lang="es-ES" sz="2000" dirty="0"/>
                        <a:t> Fuertes habilidades analíticas y capacidad para resolver problemas de forma creativa.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2560905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8618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2. </a:t>
            </a:r>
            <a:r>
              <a:rPr lang="es-ES" b="1" dirty="0"/>
              <a:t>Entorno de programación Salesforce</a:t>
            </a:r>
            <a:br>
              <a:rPr lang="es-ES" b="1" dirty="0"/>
            </a:b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870675" y="1973072"/>
            <a:ext cx="1088283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dirty="0"/>
              <a:t>Salesforce es una </a:t>
            </a:r>
            <a:r>
              <a:rPr lang="es-ES" sz="2000" b="1" dirty="0"/>
              <a:t>plataforma PaaS (</a:t>
            </a:r>
            <a:r>
              <a:rPr lang="es-ES" sz="2000" b="1" dirty="0" err="1"/>
              <a:t>Platform</a:t>
            </a:r>
            <a:r>
              <a:rPr lang="es-ES" sz="2000" b="1" dirty="0"/>
              <a:t> as a </a:t>
            </a:r>
            <a:r>
              <a:rPr lang="es-ES" sz="2000" b="1" dirty="0" err="1"/>
              <a:t>Service</a:t>
            </a:r>
            <a:r>
              <a:rPr lang="es-ES" sz="2000" b="1" dirty="0"/>
              <a:t>)</a:t>
            </a:r>
            <a:r>
              <a:rPr lang="es-ES" sz="2000" dirty="0"/>
              <a:t> llamada </a:t>
            </a:r>
            <a:r>
              <a:rPr lang="es-ES" sz="2000" b="1" dirty="0"/>
              <a:t>Salesforce </a:t>
            </a:r>
            <a:r>
              <a:rPr lang="es-ES" sz="2000" b="1" dirty="0" err="1"/>
              <a:t>Platform</a:t>
            </a:r>
            <a:r>
              <a:rPr lang="es-ES" sz="2000" dirty="0"/>
              <a:t>, diseñada para desarrollar aplicaciones empresariales en la nube. </a:t>
            </a:r>
          </a:p>
          <a:p>
            <a:endParaRPr lang="es-ES" sz="2000" dirty="0"/>
          </a:p>
          <a:p>
            <a:r>
              <a:rPr lang="es-ES" sz="2000" dirty="0"/>
              <a:t>Su entorno de programación combina herramientas de </a:t>
            </a:r>
            <a:r>
              <a:rPr lang="es-ES" sz="2000" b="1" dirty="0"/>
              <a:t>configuración (</a:t>
            </a:r>
            <a:r>
              <a:rPr lang="es-ES" sz="2000" b="1" dirty="0" err="1"/>
              <a:t>low-code</a:t>
            </a:r>
            <a:r>
              <a:rPr lang="es-ES" sz="2000" b="1" dirty="0"/>
              <a:t>)</a:t>
            </a:r>
            <a:r>
              <a:rPr lang="es-ES" sz="2000" dirty="0"/>
              <a:t> y </a:t>
            </a:r>
            <a:r>
              <a:rPr lang="es-ES" sz="2000" b="1" dirty="0"/>
              <a:t>desarrollo avanzado (</a:t>
            </a:r>
            <a:r>
              <a:rPr lang="es-ES" sz="2000" b="1" dirty="0" err="1"/>
              <a:t>pro-code</a:t>
            </a:r>
            <a:r>
              <a:rPr lang="es-ES" sz="2000" b="1" dirty="0"/>
              <a:t>)</a:t>
            </a:r>
            <a:r>
              <a:rPr lang="es-ES" sz="2000" dirty="0"/>
              <a:t>.</a:t>
            </a:r>
          </a:p>
        </p:txBody>
      </p:sp>
      <p:pic>
        <p:nvPicPr>
          <p:cNvPr id="1028" name="Picture 4" descr="Apex to Heroku Integration Tips for Salesforce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C3945B37-E9A8-4C6F-B8F8-C1F1D206C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36078" y="3744481"/>
            <a:ext cx="7015044" cy="3029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08893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2. </a:t>
            </a:r>
            <a:r>
              <a:rPr lang="es-ES" b="1" dirty="0"/>
              <a:t>Entorno de programación Salesforce</a:t>
            </a:r>
            <a:br>
              <a:rPr lang="es-ES" b="1" dirty="0"/>
            </a:b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870675" y="1973072"/>
            <a:ext cx="1088283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err="1"/>
              <a:t>Apex</a:t>
            </a:r>
            <a:r>
              <a:rPr lang="es-ES" sz="2000" dirty="0"/>
              <a:t> es el lenguaje de programación propietario de Salesforce, </a:t>
            </a:r>
            <a:r>
              <a:rPr lang="es-ES" sz="2000" b="1" dirty="0"/>
              <a:t>similar a Java</a:t>
            </a:r>
            <a:r>
              <a:rPr lang="es-ES" sz="2000" dirty="0"/>
              <a:t>, fuertemente tipado, orientado a objetos y ejecutado en el servidor.</a:t>
            </a:r>
          </a:p>
          <a:p>
            <a:endParaRPr lang="es-ES" sz="2000" dirty="0"/>
          </a:p>
        </p:txBody>
      </p:sp>
      <p:pic>
        <p:nvPicPr>
          <p:cNvPr id="1026" name="Picture 2" descr="How Apex &amp; Salesforce. Upsides to knowing Apex | by Website Developer |  Medium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A2378934-98C3-44A4-9830-C19715DFF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368462" y="2460598"/>
            <a:ext cx="4385048" cy="30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F2D85C0E-EC4F-4EAD-AA95-FF84F0170382}"/>
              </a:ext>
            </a:extLst>
          </p:cNvPr>
          <p:cNvSpPr/>
          <p:nvPr/>
        </p:nvSpPr>
        <p:spPr>
          <a:xfrm>
            <a:off x="844000" y="3147337"/>
            <a:ext cx="65244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Sintaxis similar a Java.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Se ejecuta en los servidores de Salesforce (no en el cliente).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Se usa para controlar la lógica de negocio, realizar operaciones con datos (DML) y automatizar procesos.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Tiene límites de ejecución  para garantizar rendimiento y seguridad en la nube 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49230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2. </a:t>
            </a:r>
            <a:r>
              <a:rPr lang="es-ES" b="1" dirty="0"/>
              <a:t>Entorno de programación Salesforce</a:t>
            </a:r>
            <a:br>
              <a:rPr lang="es-ES" b="1" dirty="0"/>
            </a:b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A9A4791-5CCD-41FE-A72A-9A0A59B1687E}"/>
              </a:ext>
            </a:extLst>
          </p:cNvPr>
          <p:cNvSpPr/>
          <p:nvPr/>
        </p:nvSpPr>
        <p:spPr>
          <a:xfrm>
            <a:off x="177867" y="1642408"/>
            <a:ext cx="114143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2000" dirty="0"/>
              <a:t>Salesforce tiene sus propios lenguajes de consulta de datos: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E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sz="2000" b="1" dirty="0"/>
              <a:t>SOQL (Salesforce </a:t>
            </a:r>
            <a:r>
              <a:rPr lang="es-ES" altLang="es-ES" sz="2000" b="1" dirty="0" err="1"/>
              <a:t>Object</a:t>
            </a:r>
            <a:r>
              <a:rPr lang="es-ES" altLang="es-ES" sz="2000" b="1" dirty="0"/>
              <a:t> </a:t>
            </a:r>
            <a:r>
              <a:rPr lang="es-ES" altLang="es-ES" sz="2000" b="1" dirty="0" err="1"/>
              <a:t>Query</a:t>
            </a:r>
            <a:r>
              <a:rPr lang="es-ES" altLang="es-ES" sz="2000" b="1" dirty="0"/>
              <a:t> </a:t>
            </a:r>
            <a:r>
              <a:rPr lang="es-ES" altLang="es-ES" sz="2000" b="1" dirty="0" err="1"/>
              <a:t>Language</a:t>
            </a:r>
            <a:r>
              <a:rPr lang="es-ES" altLang="es-ES" sz="2000" b="1" dirty="0"/>
              <a:t>):</a:t>
            </a:r>
            <a:r>
              <a:rPr lang="es-ES" altLang="es-ES" sz="2000" dirty="0"/>
              <a:t> similar a SQL, se usa para recuperar registros de objetos.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sz="2000" b="1" dirty="0"/>
              <a:t>SOSL (Salesforce </a:t>
            </a:r>
            <a:r>
              <a:rPr lang="es-ES" altLang="es-ES" sz="2000" b="1" dirty="0" err="1"/>
              <a:t>Object</a:t>
            </a:r>
            <a:r>
              <a:rPr lang="es-ES" altLang="es-ES" sz="2000" b="1" dirty="0"/>
              <a:t> </a:t>
            </a:r>
            <a:r>
              <a:rPr lang="es-ES" altLang="es-ES" sz="2000" b="1" dirty="0" err="1"/>
              <a:t>Search</a:t>
            </a:r>
            <a:r>
              <a:rPr lang="es-ES" altLang="es-ES" sz="2000" b="1" dirty="0"/>
              <a:t> </a:t>
            </a:r>
            <a:r>
              <a:rPr lang="es-ES" altLang="es-ES" sz="2000" b="1" dirty="0" err="1"/>
              <a:t>Language</a:t>
            </a:r>
            <a:r>
              <a:rPr lang="es-ES" altLang="es-ES" sz="2000" b="1" dirty="0"/>
              <a:t>):</a:t>
            </a:r>
            <a:r>
              <a:rPr lang="es-ES" altLang="es-ES" sz="2000" dirty="0"/>
              <a:t> usado para búsquedas de texto en varios objetos al mismo tiempo.</a:t>
            </a:r>
          </a:p>
        </p:txBody>
      </p:sp>
      <p:pic>
        <p:nvPicPr>
          <p:cNvPr id="3075" name="Picture 3" descr="Salesforce SOQL Best Practices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41021A3F-12A5-4FB4-81DD-015E730E1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26787" y="3889177"/>
            <a:ext cx="5846071" cy="224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69862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2. </a:t>
            </a:r>
            <a:r>
              <a:rPr lang="es-ES" b="1" dirty="0"/>
              <a:t>Entorno de programación Salesforce</a:t>
            </a:r>
            <a:br>
              <a:rPr lang="es-ES" b="1" dirty="0"/>
            </a:b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A9A4791-5CCD-41FE-A72A-9A0A59B1687E}"/>
              </a:ext>
            </a:extLst>
          </p:cNvPr>
          <p:cNvSpPr/>
          <p:nvPr/>
        </p:nvSpPr>
        <p:spPr>
          <a:xfrm>
            <a:off x="177867" y="1642408"/>
            <a:ext cx="1141436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err="1"/>
              <a:t>Visualforce</a:t>
            </a:r>
            <a:r>
              <a:rPr lang="es-ES" sz="2000" b="1" dirty="0"/>
              <a:t>:</a:t>
            </a:r>
          </a:p>
          <a:p>
            <a:r>
              <a:rPr lang="es-ES" sz="2000" dirty="0"/>
              <a:t/>
            </a:r>
            <a:br>
              <a:rPr lang="es-ES" sz="2000" dirty="0"/>
            </a:br>
            <a:r>
              <a:rPr lang="es-ES" sz="2000" dirty="0"/>
              <a:t>Un </a:t>
            </a:r>
            <a:r>
              <a:rPr lang="es-ES" sz="2000" dirty="0" err="1"/>
              <a:t>framework</a:t>
            </a:r>
            <a:r>
              <a:rPr lang="es-ES" sz="2000" dirty="0"/>
              <a:t> más antiguo basado en etiquetas HTML-</a:t>
            </a:r>
            <a:r>
              <a:rPr lang="es-ES" sz="2000" dirty="0" err="1"/>
              <a:t>like</a:t>
            </a:r>
            <a:r>
              <a:rPr lang="es-ES" sz="2000" dirty="0"/>
              <a:t>, usado para crear interfaces personalizadas con controladores </a:t>
            </a:r>
            <a:r>
              <a:rPr lang="es-ES" sz="2000" dirty="0" err="1"/>
              <a:t>Apex</a:t>
            </a:r>
            <a:r>
              <a:rPr lang="es-ES" sz="2000" dirty="0"/>
              <a:t>.</a:t>
            </a:r>
          </a:p>
          <a:p>
            <a:endParaRPr lang="es-ES" sz="2000" dirty="0"/>
          </a:p>
          <a:p>
            <a:r>
              <a:rPr lang="es-ES" sz="2000" b="1" dirty="0" err="1"/>
              <a:t>Lightning</a:t>
            </a:r>
            <a:r>
              <a:rPr lang="es-ES" sz="2000" b="1" dirty="0"/>
              <a:t> (actual estándar):</a:t>
            </a:r>
            <a:endParaRPr lang="es-ES" sz="2000" dirty="0"/>
          </a:p>
          <a:p>
            <a:r>
              <a:rPr lang="es-ES" sz="2000" dirty="0"/>
              <a:t>Framework moderno basado en componentes web.</a:t>
            </a:r>
          </a:p>
          <a:p>
            <a:r>
              <a:rPr lang="es-ES" sz="2000" dirty="0"/>
              <a:t>Incluye </a:t>
            </a:r>
            <a:r>
              <a:rPr lang="es-ES" sz="2000" b="1" dirty="0" err="1"/>
              <a:t>Lightning</a:t>
            </a:r>
            <a:r>
              <a:rPr lang="es-ES" sz="2000" b="1" dirty="0"/>
              <a:t> Web </a:t>
            </a:r>
            <a:r>
              <a:rPr lang="es-ES" sz="2000" b="1" dirty="0" err="1"/>
              <a:t>Components</a:t>
            </a:r>
            <a:r>
              <a:rPr lang="es-ES" sz="2000" b="1" dirty="0"/>
              <a:t> (LWC)</a:t>
            </a:r>
            <a:r>
              <a:rPr lang="es-ES" sz="2000" dirty="0"/>
              <a:t>, desarrollados con </a:t>
            </a:r>
            <a:r>
              <a:rPr lang="es-ES" sz="2000" b="1" dirty="0"/>
              <a:t>JavaScript moderno, HTML y CSS</a:t>
            </a:r>
            <a:r>
              <a:rPr lang="es-ES" sz="2000" dirty="0"/>
              <a:t>.</a:t>
            </a:r>
          </a:p>
          <a:p>
            <a:r>
              <a:rPr lang="es-ES" sz="2000" dirty="0"/>
              <a:t>Permite experiencias rápidas, modulares y responsivas.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10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2. </a:t>
            </a:r>
            <a:r>
              <a:rPr lang="es-ES" b="1" dirty="0"/>
              <a:t>Entorno de programación Salesforce</a:t>
            </a:r>
            <a:br>
              <a:rPr lang="es-ES" b="1" dirty="0"/>
            </a:b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6146" name="Picture 2" descr="Agentforce 360 Platform para el desarrollo de aplicaciones | Salesforce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F08483B-C447-447B-B927-BFB083ACA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5537" y="685800"/>
            <a:ext cx="11046695" cy="621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780923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2. </a:t>
            </a:r>
            <a:r>
              <a:rPr lang="es-ES" b="1" dirty="0"/>
              <a:t>Entorno de programación Salesforce</a:t>
            </a:r>
            <a:br>
              <a:rPr lang="es-ES" b="1" dirty="0"/>
            </a:b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4098" name="Picture 2" descr="Salesforce Lightning: The Future of Sales and CRM - Salesforce.com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9DBEE9A7-8156-4FD7-9BF8-D9A971C1C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77529" y="1354667"/>
            <a:ext cx="10132141" cy="550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8071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2. </a:t>
            </a:r>
            <a:r>
              <a:rPr lang="es-ES" b="1" dirty="0"/>
              <a:t>Entorno de programación Salesforce</a:t>
            </a:r>
            <a:br>
              <a:rPr lang="es-ES" b="1" dirty="0"/>
            </a:b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Rectangle 5"/>
          <p:cNvSpPr/>
          <p:nvPr/>
        </p:nvSpPr>
        <p:spPr>
          <a:xfrm>
            <a:off x="609599" y="1768102"/>
            <a:ext cx="93810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/>
              <a:t>Diferencias entre </a:t>
            </a:r>
            <a:r>
              <a:rPr lang="es-ES_tradnl" dirty="0" err="1"/>
              <a:t>Salesforce</a:t>
            </a:r>
            <a:r>
              <a:rPr lang="es-ES_tradnl" dirty="0"/>
              <a:t> </a:t>
            </a:r>
            <a:r>
              <a:rPr lang="es-ES_tradnl" dirty="0" err="1"/>
              <a:t>Classic</a:t>
            </a:r>
            <a:r>
              <a:rPr lang="es-ES_tradnl" dirty="0"/>
              <a:t> y Lightning </a:t>
            </a:r>
            <a:r>
              <a:rPr lang="es-ES_tradnl" dirty="0" err="1"/>
              <a:t>Experience</a:t>
            </a:r>
            <a:endParaRPr lang="es-ES_tradnl" dirty="0"/>
          </a:p>
        </p:txBody>
      </p:sp>
      <p:sp>
        <p:nvSpPr>
          <p:cNvPr id="7" name="Rectangle 6"/>
          <p:cNvSpPr/>
          <p:nvPr/>
        </p:nvSpPr>
        <p:spPr>
          <a:xfrm>
            <a:off x="609599" y="2435074"/>
            <a:ext cx="1027853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 err="1"/>
              <a:t>Salesforce</a:t>
            </a:r>
            <a:r>
              <a:rPr lang="es-ES_tradnl" dirty="0"/>
              <a:t> ha evolucionado desde su interfaz original ( </a:t>
            </a:r>
            <a:r>
              <a:rPr lang="es-ES_tradnl" dirty="0" err="1"/>
              <a:t>Salesforce</a:t>
            </a:r>
            <a:r>
              <a:rPr lang="es-ES_tradnl" dirty="0"/>
              <a:t> </a:t>
            </a:r>
            <a:r>
              <a:rPr lang="es-ES_tradnl" dirty="0" err="1"/>
              <a:t>Classic</a:t>
            </a:r>
            <a:r>
              <a:rPr lang="es-ES_tradnl" dirty="0"/>
              <a:t> ) hasta su versión moderna (Lightning </a:t>
            </a:r>
            <a:r>
              <a:rPr lang="es-ES_tradnl" dirty="0" err="1"/>
              <a:t>Experience</a:t>
            </a:r>
            <a:r>
              <a:rPr lang="es-ES_tradnl" dirty="0"/>
              <a:t>).</a:t>
            </a:r>
          </a:p>
          <a:p>
            <a:r>
              <a:rPr lang="es-ES_tradnl" dirty="0"/>
              <a:t>Aunque ambas comparten la misma base de datos y funcionalidades principales, Lightning ofrece una experiencia más visual, eficiente y adaptable para usuarios y administradores.</a:t>
            </a:r>
          </a:p>
          <a:p>
            <a:endParaRPr lang="es-ES_tradnl" dirty="0"/>
          </a:p>
          <a:p>
            <a:r>
              <a:rPr lang="es-ES_tradnl" dirty="0" err="1"/>
              <a:t>Classic</a:t>
            </a:r>
            <a:r>
              <a:rPr lang="es-ES_tradnl" dirty="0"/>
              <a:t> aún está disponible, pero </a:t>
            </a:r>
            <a:r>
              <a:rPr lang="es-ES_tradnl" dirty="0" err="1"/>
              <a:t>Salesforce</a:t>
            </a:r>
            <a:r>
              <a:rPr lang="es-ES_tradnl" dirty="0"/>
              <a:t> impulsa el uso exclusivo de Lightning </a:t>
            </a:r>
            <a:r>
              <a:rPr lang="es-ES_tradnl" dirty="0" err="1"/>
              <a:t>Experience</a:t>
            </a:r>
            <a:r>
              <a:rPr lang="es-ES_tradnl" dirty="0"/>
              <a:t>, ya que todas las innovaciones actuales se centran en ella.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465" y="4585908"/>
            <a:ext cx="4296833" cy="205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80717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2. </a:t>
            </a:r>
            <a:r>
              <a:rPr lang="es-ES" b="1" dirty="0"/>
              <a:t>Entorno de programación Salesforce</a:t>
            </a:r>
            <a:br>
              <a:rPr lang="es-ES" b="1" dirty="0"/>
            </a:b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3466" y="1303868"/>
          <a:ext cx="9872133" cy="4818868"/>
        </p:xfrm>
        <a:graphic>
          <a:graphicData uri="http://schemas.openxmlformats.org/drawingml/2006/table">
            <a:tbl>
              <a:tblPr/>
              <a:tblGrid>
                <a:gridCol w="3105840">
                  <a:extLst>
                    <a:ext uri="{9D8B030D-6E8A-4147-A177-3AD203B41FA5}">
                      <a16:col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20000"/>
                    </a:ext>
                  </a:extLst>
                </a:gridCol>
                <a:gridCol w="3227227">
                  <a:extLst>
                    <a:ext uri="{9D8B030D-6E8A-4147-A177-3AD203B41FA5}">
                      <a16:col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20001"/>
                    </a:ext>
                  </a:extLst>
                </a:gridCol>
                <a:gridCol w="3539066">
                  <a:extLst>
                    <a:ext uri="{9D8B030D-6E8A-4147-A177-3AD203B41FA5}">
                      <a16:col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20002"/>
                    </a:ext>
                  </a:extLst>
                </a:gridCol>
              </a:tblGrid>
              <a:tr h="292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latin typeface="Verdana"/>
                        </a:rPr>
                        <a:t>Característica</a:t>
                      </a:r>
                    </a:p>
                  </a:txBody>
                  <a:tcPr marL="10969" marR="10969" marT="1096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latin typeface="Verdana"/>
                        </a:rPr>
                        <a:t>Salesforce Classic</a:t>
                      </a:r>
                    </a:p>
                  </a:txBody>
                  <a:tcPr marL="10969" marR="10969" marT="1096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latin typeface="Verdana"/>
                        </a:rPr>
                        <a:t>Lightning Experience</a:t>
                      </a:r>
                    </a:p>
                  </a:txBody>
                  <a:tcPr marL="10969" marR="10969" marT="1096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10000"/>
                  </a:ext>
                </a:extLst>
              </a:tr>
              <a:tr h="87696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 err="1">
                          <a:latin typeface="Verdana"/>
                        </a:rPr>
                        <a:t>Interfaz</a:t>
                      </a:r>
                      <a:r>
                        <a:rPr lang="en-US" sz="1400" b="1" i="0" u="none" strike="noStrike" dirty="0">
                          <a:latin typeface="Verdana"/>
                        </a:rPr>
                        <a:t> de </a:t>
                      </a:r>
                      <a:r>
                        <a:rPr lang="en-US" sz="1400" b="1" i="0" u="none" strike="noStrike" dirty="0" err="1">
                          <a:latin typeface="Verdana"/>
                        </a:rPr>
                        <a:t>usuario</a:t>
                      </a:r>
                      <a:endParaRPr lang="en-US" sz="1400" b="1" i="0" u="none" strike="noStrike" dirty="0">
                        <a:latin typeface="Verdana"/>
                      </a:endParaRP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err="1">
                          <a:latin typeface="Verdana"/>
                        </a:rPr>
                        <a:t>Basada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en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menús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y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enlaces de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texto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.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Diseño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más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antiguo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.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err="1">
                          <a:latin typeface="Verdana"/>
                        </a:rPr>
                        <a:t>Moderna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,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intuitiva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, con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componentes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visuales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y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paneles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dinámicos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.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10001"/>
                  </a:ext>
                </a:extLst>
              </a:tr>
              <a:tr h="91350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latin typeface="Verdana"/>
                        </a:rPr>
                        <a:t>Velocidad de navegación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latin typeface="Verdana"/>
                        </a:rPr>
                        <a:t>Lineal (un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registro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a la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vez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).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latin typeface="Verdana"/>
                        </a:rPr>
                        <a:t>Navegación rápida y adaptable con pestañas, subpestañas y componentes.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10002"/>
                  </a:ext>
                </a:extLst>
              </a:tr>
              <a:tr h="9821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latin typeface="Verdana"/>
                        </a:rPr>
                        <a:t>Personalización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err="1">
                          <a:latin typeface="Verdana"/>
                        </a:rPr>
                        <a:t>Limitada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a page layouts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y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campos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.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err="1">
                          <a:latin typeface="Verdana"/>
                        </a:rPr>
                        <a:t>Amplia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: se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pueden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añadir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componentes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Lightning, apps,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flujos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y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dashboards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personalizados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.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10003"/>
                  </a:ext>
                </a:extLst>
              </a:tr>
              <a:tr h="87696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latin typeface="Verdana"/>
                        </a:rPr>
                        <a:t>Automatización y desarrollo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err="1">
                          <a:latin typeface="Verdana"/>
                        </a:rPr>
                        <a:t>Requiere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más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programación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(Apex,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Visualforce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).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err="1">
                          <a:latin typeface="Verdana"/>
                        </a:rPr>
                        <a:t>Potente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suite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declarativa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: Flow Builder, App Builder, Dynamic Forms, etc.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10004"/>
                  </a:ext>
                </a:extLst>
              </a:tr>
              <a:tr h="87696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latin typeface="Verdana"/>
                        </a:rPr>
                        <a:t>Informes y paneles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err="1">
                          <a:latin typeface="Verdana"/>
                        </a:rPr>
                        <a:t>Menos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visuales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,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estáticos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.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latin typeface="Verdana"/>
                        </a:rPr>
                        <a:t>Dashboards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interactivos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,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filtros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dinámicos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,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gráficos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 </a:t>
                      </a:r>
                      <a:r>
                        <a:rPr lang="en-US" sz="1400" b="0" i="0" u="none" strike="noStrike" dirty="0" err="1">
                          <a:latin typeface="Verdana"/>
                        </a:rPr>
                        <a:t>modernos</a:t>
                      </a:r>
                      <a:r>
                        <a:rPr lang="en-US" sz="1400" b="0" i="0" u="none" strike="noStrike" dirty="0">
                          <a:latin typeface="Verdana"/>
                        </a:rPr>
                        <a:t>.</a:t>
                      </a:r>
                    </a:p>
                  </a:txBody>
                  <a:tcPr marL="10969" marR="10969" marT="109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80717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3. Principales funciones de </a:t>
            </a:r>
            <a:r>
              <a:rPr lang="es-ES_tradnl" dirty="0" err="1"/>
              <a:t>Salesforce</a:t>
            </a:r>
            <a:r>
              <a:rPr lang="es-ES_tradnl" dirty="0"/>
              <a:t> Lightning  </a:t>
            </a:r>
            <a:r>
              <a:rPr lang="es-ES" b="1" dirty="0"/>
              <a:t/>
            </a:r>
            <a:br>
              <a:rPr lang="es-ES" b="1" dirty="0"/>
            </a:b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Rectangle 5"/>
          <p:cNvSpPr/>
          <p:nvPr/>
        </p:nvSpPr>
        <p:spPr>
          <a:xfrm>
            <a:off x="931331" y="1968018"/>
            <a:ext cx="1070186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/>
              <a:buChar char="•"/>
            </a:pPr>
            <a:r>
              <a:rPr lang="es-ES_tradnl" dirty="0"/>
              <a:t>Lightning </a:t>
            </a:r>
            <a:r>
              <a:rPr lang="es-ES_tradnl" dirty="0" err="1"/>
              <a:t>App</a:t>
            </a:r>
            <a:r>
              <a:rPr lang="es-ES_tradnl" dirty="0"/>
              <a:t> </a:t>
            </a:r>
            <a:r>
              <a:rPr lang="es-ES_tradnl" dirty="0" err="1"/>
              <a:t>Builder</a:t>
            </a:r>
            <a:r>
              <a:rPr lang="es-ES_tradnl" dirty="0"/>
              <a:t> : Diseña y personaliza páginas sin código (inicio, registro, </a:t>
            </a:r>
            <a:r>
              <a:rPr lang="es-ES_tradnl" dirty="0" err="1"/>
              <a:t>app</a:t>
            </a:r>
            <a:r>
              <a:rPr lang="es-ES_tradnl" dirty="0"/>
              <a:t>).</a:t>
            </a:r>
          </a:p>
          <a:p>
            <a:pPr>
              <a:buFont typeface="Arial"/>
              <a:buChar char="•"/>
            </a:pPr>
            <a:endParaRPr lang="es-ES_tradnl" dirty="0"/>
          </a:p>
          <a:p>
            <a:pPr>
              <a:buFont typeface="Arial"/>
              <a:buChar char="•"/>
            </a:pPr>
            <a:r>
              <a:rPr lang="es-ES_tradnl" dirty="0" err="1"/>
              <a:t>App</a:t>
            </a:r>
            <a:r>
              <a:rPr lang="es-ES_tradnl" dirty="0"/>
              <a:t> </a:t>
            </a:r>
            <a:r>
              <a:rPr lang="es-ES_tradnl" dirty="0" err="1"/>
              <a:t>Launcher</a:t>
            </a:r>
            <a:r>
              <a:rPr lang="es-ES_tradnl" dirty="0"/>
              <a:t> :Accede a todas las </a:t>
            </a:r>
            <a:r>
              <a:rPr lang="es-ES_tradnl" dirty="0" err="1"/>
              <a:t>apps</a:t>
            </a:r>
            <a:r>
              <a:rPr lang="es-ES_tradnl" dirty="0"/>
              <a:t> y objetos desde un solo menú.</a:t>
            </a:r>
          </a:p>
          <a:p>
            <a:pPr>
              <a:buFont typeface="Arial"/>
              <a:buChar char="•"/>
            </a:pPr>
            <a:endParaRPr lang="es-ES_tradnl" dirty="0"/>
          </a:p>
          <a:p>
            <a:pPr>
              <a:buFont typeface="Arial"/>
              <a:buChar char="•"/>
            </a:pPr>
            <a:r>
              <a:rPr lang="es-ES_tradnl" dirty="0"/>
              <a:t>Lightning Record </a:t>
            </a:r>
            <a:r>
              <a:rPr lang="es-ES_tradnl" dirty="0" err="1"/>
              <a:t>Pages</a:t>
            </a:r>
            <a:r>
              <a:rPr lang="es-ES_tradnl" dirty="0"/>
              <a:t> : Personaliza cómo se muestran los registros (con </a:t>
            </a:r>
            <a:r>
              <a:rPr lang="es-ES_tradnl" dirty="0" err="1"/>
              <a:t>Dynamic</a:t>
            </a:r>
            <a:r>
              <a:rPr lang="es-ES_tradnl" dirty="0"/>
              <a:t> </a:t>
            </a:r>
            <a:r>
              <a:rPr lang="es-ES_tradnl" dirty="0" err="1"/>
              <a:t>Forms</a:t>
            </a:r>
            <a:r>
              <a:rPr lang="es-ES_tradnl" dirty="0"/>
              <a:t>).</a:t>
            </a:r>
          </a:p>
          <a:p>
            <a:pPr>
              <a:buFont typeface="Arial"/>
              <a:buChar char="•"/>
            </a:pPr>
            <a:endParaRPr lang="es-ES_tradnl" dirty="0"/>
          </a:p>
          <a:p>
            <a:pPr>
              <a:buFont typeface="Arial"/>
              <a:buChar char="•"/>
            </a:pPr>
            <a:r>
              <a:rPr lang="es-ES_tradnl" dirty="0" err="1"/>
              <a:t>Flows</a:t>
            </a:r>
            <a:r>
              <a:rPr lang="es-ES_tradnl" dirty="0"/>
              <a:t> (</a:t>
            </a:r>
            <a:r>
              <a:rPr lang="es-ES_tradnl" dirty="0" err="1"/>
              <a:t>Flow</a:t>
            </a:r>
            <a:r>
              <a:rPr lang="es-ES_tradnl" dirty="0"/>
              <a:t> </a:t>
            </a:r>
            <a:r>
              <a:rPr lang="es-ES_tradnl" dirty="0" err="1"/>
              <a:t>Builder</a:t>
            </a:r>
            <a:r>
              <a:rPr lang="es-ES_tradnl" dirty="0"/>
              <a:t>) : Automatiza procesos de negocio sin programación.</a:t>
            </a:r>
          </a:p>
          <a:p>
            <a:pPr>
              <a:buFont typeface="Arial"/>
              <a:buChar char="•"/>
            </a:pPr>
            <a:endParaRPr lang="es-ES_tradnl" dirty="0"/>
          </a:p>
          <a:p>
            <a:pPr>
              <a:buFont typeface="Arial"/>
              <a:buChar char="•"/>
            </a:pPr>
            <a:r>
              <a:rPr lang="es-ES_tradnl" dirty="0"/>
              <a:t>Informes y </a:t>
            </a:r>
            <a:r>
              <a:rPr lang="es-ES_tradnl" dirty="0" err="1"/>
              <a:t>Dashboards</a:t>
            </a:r>
            <a:r>
              <a:rPr lang="es-ES_tradnl" dirty="0"/>
              <a:t> Lightning : Analiza datos con paneles visuales y dinámicos.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166" y="5240867"/>
            <a:ext cx="2717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80717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3. Principales funciones de </a:t>
            </a:r>
            <a:r>
              <a:rPr lang="es-ES_tradnl" dirty="0" err="1"/>
              <a:t>Salesforce</a:t>
            </a:r>
            <a:r>
              <a:rPr lang="es-ES_tradnl" dirty="0"/>
              <a:t> Lightning  </a:t>
            </a:r>
            <a:r>
              <a:rPr lang="es-ES" b="1" dirty="0"/>
              <a:t/>
            </a:r>
            <a:br>
              <a:rPr lang="es-ES" b="1" dirty="0"/>
            </a:b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Rectangle 5"/>
          <p:cNvSpPr/>
          <p:nvPr/>
        </p:nvSpPr>
        <p:spPr>
          <a:xfrm>
            <a:off x="1151465" y="1426151"/>
            <a:ext cx="9584267" cy="2862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_tradnl" dirty="0"/>
          </a:p>
          <a:p>
            <a:pPr>
              <a:buFont typeface="Arial"/>
              <a:buChar char="•"/>
            </a:pPr>
            <a:r>
              <a:rPr lang="es-ES_tradnl" dirty="0" err="1"/>
              <a:t>Dynamic</a:t>
            </a:r>
            <a:r>
              <a:rPr lang="es-ES_tradnl" dirty="0"/>
              <a:t> </a:t>
            </a:r>
            <a:r>
              <a:rPr lang="es-ES_tradnl" dirty="0" err="1"/>
              <a:t>Forms</a:t>
            </a:r>
            <a:r>
              <a:rPr lang="es-ES_tradnl" dirty="0"/>
              <a:t> &amp; </a:t>
            </a:r>
            <a:r>
              <a:rPr lang="es-ES_tradnl" dirty="0" err="1"/>
              <a:t>Actions</a:t>
            </a:r>
            <a:r>
              <a:rPr lang="es-ES_tradnl" dirty="0"/>
              <a:t> : Muestra campos o botones según condiciones o perfil.</a:t>
            </a:r>
          </a:p>
          <a:p>
            <a:pPr>
              <a:buFont typeface="Arial"/>
              <a:buChar char="•"/>
            </a:pPr>
            <a:endParaRPr lang="es-ES_tradnl" dirty="0"/>
          </a:p>
          <a:p>
            <a:pPr>
              <a:buFont typeface="Arial"/>
              <a:buChar char="•"/>
            </a:pPr>
            <a:r>
              <a:rPr lang="es-ES_tradnl" dirty="0" err="1"/>
              <a:t>App</a:t>
            </a:r>
            <a:r>
              <a:rPr lang="es-ES_tradnl" dirty="0"/>
              <a:t> Manager : Crea y administra aplicaciones Lightning (iconos, navegación, permisos).</a:t>
            </a:r>
          </a:p>
          <a:p>
            <a:pPr>
              <a:buFont typeface="Arial"/>
              <a:buChar char="•"/>
            </a:pPr>
            <a:endParaRPr lang="es-ES_tradnl" dirty="0"/>
          </a:p>
          <a:p>
            <a:pPr>
              <a:buFont typeface="Arial"/>
              <a:buChar char="•"/>
            </a:pPr>
            <a:r>
              <a:rPr lang="es-ES_tradnl" dirty="0" err="1"/>
              <a:t>Quick</a:t>
            </a:r>
            <a:r>
              <a:rPr lang="es-ES_tradnl" dirty="0"/>
              <a:t> </a:t>
            </a:r>
            <a:r>
              <a:rPr lang="es-ES_tradnl" dirty="0" err="1"/>
              <a:t>Actions</a:t>
            </a:r>
            <a:r>
              <a:rPr lang="es-ES_tradnl" dirty="0"/>
              <a:t> &amp; Global </a:t>
            </a:r>
            <a:r>
              <a:rPr lang="es-ES_tradnl" dirty="0" err="1"/>
              <a:t>Actions</a:t>
            </a:r>
            <a:r>
              <a:rPr lang="es-ES_tradnl" dirty="0"/>
              <a:t> : Realiza tareas o crea registros rápidamente.</a:t>
            </a:r>
          </a:p>
          <a:p>
            <a:pPr>
              <a:buFont typeface="Arial"/>
              <a:buChar char="•"/>
            </a:pPr>
            <a:endParaRPr lang="es-ES_tradnl" dirty="0"/>
          </a:p>
          <a:p>
            <a:pPr>
              <a:buFont typeface="Arial"/>
              <a:buChar char="•"/>
            </a:pP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Views</a:t>
            </a:r>
            <a:r>
              <a:rPr lang="es-ES_tradnl" dirty="0"/>
              <a:t> &amp; </a:t>
            </a:r>
            <a:r>
              <a:rPr lang="es-ES_tradnl" dirty="0" err="1"/>
              <a:t>Kanban</a:t>
            </a:r>
            <a:r>
              <a:rPr lang="es-ES_tradnl" dirty="0"/>
              <a:t> : Visualiza y gestiona registros de forma interactiva.</a:t>
            </a:r>
          </a:p>
          <a:p>
            <a:pPr>
              <a:buFont typeface="Arial"/>
              <a:buChar char="•"/>
            </a:pPr>
            <a:endParaRPr lang="es-ES_tradnl" dirty="0"/>
          </a:p>
          <a:p>
            <a:pPr>
              <a:buFont typeface="Arial"/>
              <a:buChar char="•"/>
            </a:pPr>
            <a:r>
              <a:rPr lang="es-ES_tradnl" dirty="0"/>
              <a:t>Experiencia móvil integrada : Usa </a:t>
            </a:r>
            <a:r>
              <a:rPr lang="es-ES_tradnl" dirty="0" err="1"/>
              <a:t>Salesforce</a:t>
            </a:r>
            <a:r>
              <a:rPr lang="es-ES_tradnl" dirty="0"/>
              <a:t> desde la </a:t>
            </a:r>
            <a:r>
              <a:rPr lang="es-ES_tradnl" dirty="0" err="1"/>
              <a:t>app</a:t>
            </a:r>
            <a:r>
              <a:rPr lang="es-ES_tradnl" dirty="0"/>
              <a:t> móvil con la misma interfaz.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80717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4. Modelo de datos: objetos estándar</a:t>
            </a:r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870675" y="1769876"/>
            <a:ext cx="10882835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_tradnl" dirty="0"/>
          </a:p>
          <a:p>
            <a:r>
              <a:rPr lang="es-ES_tradnl" sz="2000" dirty="0"/>
              <a:t>Son los que </a:t>
            </a:r>
            <a:r>
              <a:rPr lang="es-ES_tradnl" sz="2000" dirty="0" err="1"/>
              <a:t>Salesforce</a:t>
            </a:r>
            <a:r>
              <a:rPr lang="es-ES_tradnl" sz="2000" dirty="0"/>
              <a:t> incluye por defecto y cubren procesos comunes de negocio.</a:t>
            </a:r>
          </a:p>
          <a:p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Cuenta (</a:t>
            </a:r>
            <a:r>
              <a:rPr lang="es-ES_tradnl" sz="2000" dirty="0" err="1"/>
              <a:t>Account</a:t>
            </a:r>
            <a:r>
              <a:rPr lang="es-ES_tradnl" sz="2000" dirty="0"/>
              <a:t>): representa una empresa o cliente.</a:t>
            </a:r>
          </a:p>
          <a:p>
            <a:pPr>
              <a:buFont typeface="Arial"/>
              <a:buChar char="•"/>
            </a:pPr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Contacto (Contact): persona asociada a una cuenta.</a:t>
            </a:r>
          </a:p>
          <a:p>
            <a:pPr>
              <a:buFont typeface="Arial"/>
              <a:buChar char="•"/>
            </a:pPr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Oportunidad (</a:t>
            </a:r>
            <a:r>
              <a:rPr lang="es-ES_tradnl" sz="2000" dirty="0" err="1"/>
              <a:t>Opportunity</a:t>
            </a:r>
            <a:r>
              <a:rPr lang="es-ES_tradnl" sz="2000" dirty="0"/>
              <a:t>): posible venta o negocio.</a:t>
            </a:r>
          </a:p>
          <a:p>
            <a:pPr>
              <a:buFont typeface="Arial"/>
              <a:buChar char="•"/>
            </a:pPr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Caso (Case): solicitud de soporte o incidencia.</a:t>
            </a:r>
          </a:p>
          <a:p>
            <a:pPr>
              <a:buFont typeface="Arial"/>
              <a:buChar char="•"/>
            </a:pPr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Usuario (</a:t>
            </a:r>
            <a:r>
              <a:rPr lang="es-ES_tradnl" sz="2000" dirty="0" err="1"/>
              <a:t>User</a:t>
            </a:r>
            <a:r>
              <a:rPr lang="es-ES_tradnl" sz="2000" dirty="0"/>
              <a:t>): representa a un empleado o persona con acceso al sistema.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1264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4. Modelo de datos: objetos estándar</a:t>
            </a:r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Rectangle 5"/>
          <p:cNvSpPr/>
          <p:nvPr/>
        </p:nvSpPr>
        <p:spPr>
          <a:xfrm>
            <a:off x="729553" y="1828821"/>
            <a:ext cx="1047962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000" b="1" dirty="0"/>
              <a:t>Características:</a:t>
            </a:r>
          </a:p>
          <a:p>
            <a:endParaRPr lang="es-ES_tradnl" sz="2000" dirty="0"/>
          </a:p>
          <a:p>
            <a:r>
              <a:rPr lang="es-ES_tradnl" sz="2000" dirty="0"/>
              <a:t>No se pueden eliminar, pero sí personalizar (añadir campos, cambiar etiquetas, etc.).</a:t>
            </a:r>
          </a:p>
          <a:p>
            <a:endParaRPr lang="es-ES_tradnl" sz="2000" dirty="0"/>
          </a:p>
          <a:p>
            <a:r>
              <a:rPr lang="es-ES_tradnl" sz="2000" dirty="0"/>
              <a:t>Ya incluyen relaciones predefinidas y permisos configurados.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1264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4. Modelo de datos: objetos personalizados</a:t>
            </a:r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790036" y="1602496"/>
            <a:ext cx="11401964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_tradnl" dirty="0"/>
          </a:p>
          <a:p>
            <a:r>
              <a:rPr lang="es-ES_tradnl" sz="2000" dirty="0"/>
              <a:t>Son creados por el administrador o desarrollador para adaptar </a:t>
            </a:r>
            <a:r>
              <a:rPr lang="es-ES_tradnl" sz="2000" dirty="0" err="1"/>
              <a:t>Salesforce</a:t>
            </a:r>
            <a:r>
              <a:rPr lang="es-ES_tradnl" sz="2000" dirty="0"/>
              <a:t> a las necesidades específicas del negocio.</a:t>
            </a:r>
          </a:p>
          <a:p>
            <a:endParaRPr lang="es-ES_tradnl" sz="2000" dirty="0"/>
          </a:p>
          <a:p>
            <a:r>
              <a:rPr lang="es-ES_tradnl" sz="2000" dirty="0"/>
              <a:t>Ejemplo:</a:t>
            </a:r>
          </a:p>
          <a:p>
            <a:r>
              <a:rPr lang="es-ES_tradnl" sz="2000" dirty="0"/>
              <a:t>Una empresa de construcción podría crear un objeto Proyecto para controlar obras, con campos como:</a:t>
            </a:r>
          </a:p>
          <a:p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Nombre del Proyecto</a:t>
            </a:r>
          </a:p>
          <a:p>
            <a:pPr>
              <a:buFont typeface="Arial"/>
              <a:buChar char="•"/>
            </a:pPr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Presupuesto</a:t>
            </a:r>
          </a:p>
          <a:p>
            <a:pPr>
              <a:buFont typeface="Arial"/>
              <a:buChar char="•"/>
            </a:pPr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Fecha de inicio</a:t>
            </a:r>
          </a:p>
          <a:p>
            <a:pPr>
              <a:buFont typeface="Arial"/>
              <a:buChar char="•"/>
            </a:pPr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Estado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1264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4. Modelo de datos: objetos personalizados</a:t>
            </a:r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689233" y="1770944"/>
            <a:ext cx="1225374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b="1" dirty="0"/>
              <a:t>V</a:t>
            </a:r>
            <a:r>
              <a:rPr lang="es-ES_tradnl" sz="2000" b="1" dirty="0"/>
              <a:t>entajas:</a:t>
            </a:r>
          </a:p>
          <a:p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Totalmente configurables.</a:t>
            </a:r>
          </a:p>
          <a:p>
            <a:pPr>
              <a:buFont typeface="Arial"/>
              <a:buChar char="•"/>
            </a:pPr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Pueden relacionarse con objetos estándar.</a:t>
            </a:r>
          </a:p>
          <a:p>
            <a:pPr>
              <a:buFont typeface="Arial"/>
              <a:buChar char="•"/>
            </a:pPr>
            <a:endParaRPr lang="es-ES_tradnl" sz="2000" dirty="0"/>
          </a:p>
          <a:p>
            <a:pPr>
              <a:buFont typeface="Arial"/>
              <a:buChar char="•"/>
            </a:pPr>
            <a:r>
              <a:rPr lang="es-ES_tradnl" sz="2000" dirty="0"/>
              <a:t>Se pueden usar en informes, </a:t>
            </a:r>
            <a:r>
              <a:rPr lang="es-ES_tradnl" sz="2000" dirty="0" err="1"/>
              <a:t>Flows</a:t>
            </a:r>
            <a:r>
              <a:rPr lang="es-ES_tradnl" sz="2000" dirty="0"/>
              <a:t>, y procesos automatizados.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1264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5. Seguridad</a:t>
            </a:r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Rectangle 5"/>
          <p:cNvSpPr/>
          <p:nvPr/>
        </p:nvSpPr>
        <p:spPr>
          <a:xfrm>
            <a:off x="648912" y="1379336"/>
            <a:ext cx="1023770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 err="1"/>
              <a:t>Salesforce</a:t>
            </a:r>
            <a:r>
              <a:rPr lang="es-ES_tradnl" dirty="0"/>
              <a:t> implementa seguridad en múltiples niveles:</a:t>
            </a:r>
          </a:p>
          <a:p>
            <a:endParaRPr lang="es-ES_tradnl" dirty="0"/>
          </a:p>
          <a:p>
            <a:endParaRPr lang="es-ES_tradnl" dirty="0"/>
          </a:p>
          <a:p>
            <a:r>
              <a:rPr lang="es-ES_tradnl" dirty="0"/>
              <a:t> </a:t>
            </a:r>
            <a:r>
              <a:rPr lang="es-ES_tradnl" b="1" dirty="0"/>
              <a:t>a) Seguridad a nivel de objeto</a:t>
            </a:r>
          </a:p>
          <a:p>
            <a:endParaRPr lang="es-ES_tradnl" dirty="0"/>
          </a:p>
          <a:p>
            <a:r>
              <a:rPr lang="es-ES_tradnl" dirty="0"/>
              <a:t>Controla quién puede crear, leer, editar o eliminar un tipo de registro.</a:t>
            </a:r>
          </a:p>
          <a:p>
            <a:endParaRPr lang="es-ES_tradnl" dirty="0"/>
          </a:p>
          <a:p>
            <a:r>
              <a:rPr lang="es-ES_tradnl" dirty="0"/>
              <a:t>Configurada mediante Perfiles o Permisos.</a:t>
            </a:r>
          </a:p>
          <a:p>
            <a:endParaRPr lang="es-ES_tradnl" dirty="0"/>
          </a:p>
          <a:p>
            <a:endParaRPr lang="es-ES_tradnl" dirty="0"/>
          </a:p>
          <a:p>
            <a:r>
              <a:rPr lang="es-ES_tradnl" dirty="0" err="1"/>
              <a:t>b</a:t>
            </a:r>
            <a:r>
              <a:rPr lang="es-ES_tradnl" b="1" dirty="0"/>
              <a:t>) Seguridad a nivel de campo</a:t>
            </a:r>
          </a:p>
          <a:p>
            <a:endParaRPr lang="es-ES_tradnl" dirty="0"/>
          </a:p>
          <a:p>
            <a:r>
              <a:rPr lang="es-ES_tradnl" dirty="0"/>
              <a:t>Controla si un usuario puede ver o editar campos específicos.</a:t>
            </a:r>
          </a:p>
          <a:p>
            <a:endParaRPr lang="es-ES_tradnl" dirty="0"/>
          </a:p>
          <a:p>
            <a:r>
              <a:rPr lang="es-ES_tradnl" dirty="0"/>
              <a:t>Ejemplo: ocultar el campo “Salario” a usuarios del perfil “Ventas”.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1264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5. Seguridad</a:t>
            </a:r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Rectangle 5"/>
          <p:cNvSpPr/>
          <p:nvPr/>
        </p:nvSpPr>
        <p:spPr>
          <a:xfrm>
            <a:off x="648913" y="1379336"/>
            <a:ext cx="11265882" cy="2862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_tradnl" dirty="0"/>
          </a:p>
          <a:p>
            <a:r>
              <a:rPr lang="es-ES_tradnl" dirty="0" err="1"/>
              <a:t>c</a:t>
            </a:r>
            <a:r>
              <a:rPr lang="es-ES_tradnl" dirty="0"/>
              <a:t>) Seguridad a nivel de registro</a:t>
            </a:r>
            <a:endParaRPr lang="es-ES_tradnl" b="1" dirty="0"/>
          </a:p>
          <a:p>
            <a:endParaRPr lang="es-ES_tradnl" dirty="0"/>
          </a:p>
          <a:p>
            <a:r>
              <a:rPr lang="es-ES_tradnl" dirty="0"/>
              <a:t>Controla qué registros específicos puede ver un usuario.</a:t>
            </a:r>
          </a:p>
          <a:p>
            <a:endParaRPr lang="es-ES_tradnl" dirty="0"/>
          </a:p>
          <a:p>
            <a:r>
              <a:rPr lang="es-ES_tradnl" dirty="0"/>
              <a:t>Roles: definen jerarquías (por ejemplo, un gerente ve los registros de su equipo).</a:t>
            </a:r>
          </a:p>
          <a:p>
            <a:endParaRPr lang="es-ES_tradnl" dirty="0"/>
          </a:p>
          <a:p>
            <a:r>
              <a:rPr lang="es-ES_tradnl" dirty="0" err="1"/>
              <a:t>Sharing</a:t>
            </a:r>
            <a:r>
              <a:rPr lang="es-ES_tradnl" dirty="0"/>
              <a:t> Rules: permiten compartir registros con grupos o roles específicos.</a:t>
            </a:r>
          </a:p>
          <a:p>
            <a:endParaRPr lang="es-ES_tradnl" dirty="0"/>
          </a:p>
          <a:p>
            <a:r>
              <a:rPr lang="es-ES_tradnl" dirty="0"/>
              <a:t>Manual </a:t>
            </a:r>
            <a:r>
              <a:rPr lang="es-ES_tradnl" dirty="0" err="1"/>
              <a:t>Sharing</a:t>
            </a:r>
            <a:r>
              <a:rPr lang="es-ES_tradnl" dirty="0"/>
              <a:t>: permite compartir registros individuales.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0676" y="4582388"/>
            <a:ext cx="110037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/>
              <a:t>Ejemplo práctico:</a:t>
            </a:r>
          </a:p>
          <a:p>
            <a:r>
              <a:rPr lang="es-ES_tradnl" dirty="0"/>
              <a:t>Un usuario de ventas solo puede ver sus propias oportunidades, pero el gerente de ventas puede ver las de todo el equipo.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1264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38288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5. Seguridad</a:t>
            </a:r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031" y="1511300"/>
            <a:ext cx="81534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1264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2397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6. Automatización: </a:t>
            </a:r>
            <a:r>
              <a:rPr lang="es-ES_tradnl" dirty="0" err="1"/>
              <a:t>validation</a:t>
            </a:r>
            <a:r>
              <a:rPr lang="es-ES_tradnl" dirty="0"/>
              <a:t> rules, </a:t>
            </a:r>
            <a:r>
              <a:rPr lang="es-ES_tradnl" dirty="0" err="1"/>
              <a:t>Flows</a:t>
            </a:r>
            <a:r>
              <a:rPr lang="es-ES_tradnl" dirty="0"/>
              <a:t>, </a:t>
            </a:r>
            <a:r>
              <a:rPr lang="es-ES_tradnl" dirty="0" err="1"/>
              <a:t>Process</a:t>
            </a:r>
            <a:r>
              <a:rPr lang="es-ES_tradnl" dirty="0"/>
              <a:t> </a:t>
            </a:r>
            <a:r>
              <a:rPr lang="es-ES_tradnl" dirty="0" err="1"/>
              <a:t>Builder</a:t>
            </a: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3084899" y="3244334"/>
            <a:ext cx="248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/>
              <a:t>. </a:t>
            </a:r>
          </a:p>
        </p:txBody>
      </p:sp>
      <p:sp>
        <p:nvSpPr>
          <p:cNvPr id="8" name="Rectangle 7"/>
          <p:cNvSpPr/>
          <p:nvPr/>
        </p:nvSpPr>
        <p:spPr>
          <a:xfrm>
            <a:off x="931158" y="2118774"/>
            <a:ext cx="102448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 err="1"/>
              <a:t>Salesforce</a:t>
            </a:r>
            <a:r>
              <a:rPr lang="es-ES_tradnl" dirty="0"/>
              <a:t> ofrece potentes herramientas sin código (declarativas) para automatizar procesos.</a:t>
            </a:r>
          </a:p>
          <a:p>
            <a:endParaRPr lang="es-ES_tradnl" b="1" dirty="0"/>
          </a:p>
          <a:p>
            <a:r>
              <a:rPr lang="es-ES_tradnl" b="1" dirty="0" err="1"/>
              <a:t>Validation</a:t>
            </a:r>
            <a:r>
              <a:rPr lang="es-ES_tradnl" b="1" dirty="0"/>
              <a:t> Rules (Reglas de validación)</a:t>
            </a:r>
          </a:p>
          <a:p>
            <a:endParaRPr lang="es-ES_tradnl" dirty="0"/>
          </a:p>
          <a:p>
            <a:r>
              <a:rPr lang="es-ES_tradnl" dirty="0"/>
              <a:t>Garantizan la integridad de los datos.</a:t>
            </a:r>
          </a:p>
          <a:p>
            <a:endParaRPr lang="es-ES_tradnl" dirty="0"/>
          </a:p>
          <a:p>
            <a:r>
              <a:rPr lang="es-ES_tradnl" dirty="0"/>
              <a:t>Usan fórmulas booleanas: si el resultado es TRUE, se muestra un mensaje de error.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1264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2397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6. Automatización: </a:t>
            </a:r>
            <a:r>
              <a:rPr lang="es-ES_tradnl" dirty="0" err="1"/>
              <a:t>validation</a:t>
            </a:r>
            <a:r>
              <a:rPr lang="es-ES_tradnl" dirty="0"/>
              <a:t> rules, </a:t>
            </a:r>
            <a:r>
              <a:rPr lang="es-ES_tradnl" dirty="0" err="1"/>
              <a:t>Flows</a:t>
            </a:r>
            <a:r>
              <a:rPr lang="es-ES_tradnl" dirty="0"/>
              <a:t>, </a:t>
            </a:r>
            <a:r>
              <a:rPr lang="es-ES_tradnl" dirty="0" err="1"/>
              <a:t>Process</a:t>
            </a:r>
            <a:r>
              <a:rPr lang="es-ES_tradnl" dirty="0"/>
              <a:t> </a:t>
            </a:r>
            <a:r>
              <a:rPr lang="es-ES_tradnl" dirty="0" err="1"/>
              <a:t>Builder</a:t>
            </a: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3084899" y="3244334"/>
            <a:ext cx="248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/>
              <a:t>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2120" y="2280020"/>
            <a:ext cx="986987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b="1" dirty="0" err="1"/>
              <a:t>Process</a:t>
            </a:r>
            <a:r>
              <a:rPr lang="es-ES_tradnl" b="1" dirty="0"/>
              <a:t> </a:t>
            </a:r>
            <a:r>
              <a:rPr lang="es-ES_tradnl" b="1" dirty="0" err="1"/>
              <a:t>Builder</a:t>
            </a:r>
            <a:endParaRPr lang="es-ES_tradnl" b="1" dirty="0"/>
          </a:p>
          <a:p>
            <a:endParaRPr lang="es-ES_tradnl" dirty="0"/>
          </a:p>
          <a:p>
            <a:r>
              <a:rPr lang="es-ES_tradnl" dirty="0"/>
              <a:t>Permite definir condiciones y acciones automáticas.</a:t>
            </a:r>
          </a:p>
          <a:p>
            <a:endParaRPr lang="es-ES_tradnl" dirty="0"/>
          </a:p>
          <a:p>
            <a:r>
              <a:rPr lang="es-ES_tradnl" dirty="0"/>
              <a:t>Ejemplo: cuando una oportunidad cambia a “Cerrada - Ganada”, crear automáticamente una tarea de seguimiento.</a:t>
            </a:r>
          </a:p>
          <a:p>
            <a:endParaRPr lang="es-ES_tradnl" dirty="0"/>
          </a:p>
          <a:p>
            <a:r>
              <a:rPr lang="es-ES_tradnl" dirty="0"/>
              <a:t>Actualmente, </a:t>
            </a:r>
            <a:r>
              <a:rPr lang="es-ES_tradnl" dirty="0" err="1"/>
              <a:t>Salesforce</a:t>
            </a:r>
            <a:r>
              <a:rPr lang="es-ES_tradnl" dirty="0"/>
              <a:t> recomienda migrar procesos a </a:t>
            </a:r>
            <a:r>
              <a:rPr lang="es-ES_tradnl" dirty="0" err="1"/>
              <a:t>Flows</a:t>
            </a:r>
            <a:r>
              <a:rPr lang="es-ES_tradnl" dirty="0"/>
              <a:t>, ya que </a:t>
            </a:r>
            <a:r>
              <a:rPr lang="es-ES_tradnl" dirty="0" err="1"/>
              <a:t>Process</a:t>
            </a:r>
            <a:r>
              <a:rPr lang="es-ES_tradnl" dirty="0"/>
              <a:t> </a:t>
            </a:r>
            <a:r>
              <a:rPr lang="es-ES_tradnl" dirty="0" err="1"/>
              <a:t>Builder</a:t>
            </a:r>
            <a:r>
              <a:rPr lang="es-ES_tradnl" dirty="0"/>
              <a:t> quedará en desuso.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1264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2397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6. Automatización: </a:t>
            </a:r>
            <a:r>
              <a:rPr lang="es-ES_tradnl" dirty="0" err="1"/>
              <a:t>validation</a:t>
            </a:r>
            <a:r>
              <a:rPr lang="es-ES_tradnl" dirty="0"/>
              <a:t> rules, </a:t>
            </a:r>
            <a:r>
              <a:rPr lang="es-ES_tradnl" dirty="0" err="1"/>
              <a:t>Flows</a:t>
            </a:r>
            <a:r>
              <a:rPr lang="es-ES_tradnl" dirty="0"/>
              <a:t>, </a:t>
            </a:r>
            <a:r>
              <a:rPr lang="es-ES_tradnl" dirty="0" err="1"/>
              <a:t>Process</a:t>
            </a:r>
            <a:r>
              <a:rPr lang="es-ES_tradnl" dirty="0"/>
              <a:t> </a:t>
            </a:r>
            <a:r>
              <a:rPr lang="es-ES_tradnl" dirty="0" err="1"/>
              <a:t>Builder</a:t>
            </a: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3084899" y="3244334"/>
            <a:ext cx="248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/>
              <a:t>. </a:t>
            </a:r>
          </a:p>
        </p:txBody>
      </p:sp>
      <p:sp>
        <p:nvSpPr>
          <p:cNvPr id="8" name="Rectangle 7"/>
          <p:cNvSpPr/>
          <p:nvPr/>
        </p:nvSpPr>
        <p:spPr>
          <a:xfrm>
            <a:off x="910998" y="2001002"/>
            <a:ext cx="1056026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b="1" dirty="0" err="1"/>
              <a:t>Flows</a:t>
            </a:r>
            <a:r>
              <a:rPr lang="es-ES_tradnl" b="1" dirty="0"/>
              <a:t> (</a:t>
            </a:r>
            <a:r>
              <a:rPr lang="es-ES_tradnl" b="1" dirty="0" err="1"/>
              <a:t>Flow</a:t>
            </a:r>
            <a:r>
              <a:rPr lang="es-ES_tradnl" b="1" dirty="0"/>
              <a:t> </a:t>
            </a:r>
            <a:r>
              <a:rPr lang="es-ES_tradnl" b="1" dirty="0" err="1"/>
              <a:t>Builder</a:t>
            </a:r>
            <a:r>
              <a:rPr lang="es-ES_tradnl" b="1" dirty="0"/>
              <a:t>)</a:t>
            </a:r>
          </a:p>
          <a:p>
            <a:endParaRPr lang="es-ES_tradnl" dirty="0"/>
          </a:p>
          <a:p>
            <a:r>
              <a:rPr lang="es-ES_tradnl" dirty="0"/>
              <a:t>La herramienta más potente de automatización visual.</a:t>
            </a:r>
          </a:p>
          <a:p>
            <a:r>
              <a:rPr lang="es-ES_tradnl" dirty="0"/>
              <a:t>Tipos principales:</a:t>
            </a:r>
          </a:p>
          <a:p>
            <a:endParaRPr lang="es-ES_tradnl" dirty="0"/>
          </a:p>
          <a:p>
            <a:pPr>
              <a:buFont typeface="Arial"/>
              <a:buChar char="•"/>
            </a:pPr>
            <a:r>
              <a:rPr lang="es-ES_tradnl" dirty="0" err="1"/>
              <a:t>Screen</a:t>
            </a:r>
            <a:r>
              <a:rPr lang="es-ES_tradnl" dirty="0"/>
              <a:t> </a:t>
            </a:r>
            <a:r>
              <a:rPr lang="es-ES_tradnl" dirty="0" err="1"/>
              <a:t>Flows</a:t>
            </a:r>
            <a:r>
              <a:rPr lang="es-ES_tradnl" dirty="0"/>
              <a:t>: incluyen pantallas para interacción del usuario.</a:t>
            </a:r>
          </a:p>
          <a:p>
            <a:pPr>
              <a:buFont typeface="Arial"/>
              <a:buChar char="•"/>
            </a:pPr>
            <a:endParaRPr lang="es-ES_tradnl" dirty="0"/>
          </a:p>
          <a:p>
            <a:pPr>
              <a:buFont typeface="Arial"/>
              <a:buChar char="•"/>
            </a:pPr>
            <a:r>
              <a:rPr lang="es-ES_tradnl" dirty="0" err="1"/>
              <a:t>Autolaunched</a:t>
            </a:r>
            <a:r>
              <a:rPr lang="es-ES_tradnl" dirty="0"/>
              <a:t> </a:t>
            </a:r>
            <a:r>
              <a:rPr lang="es-ES_tradnl" dirty="0" err="1"/>
              <a:t>Flows</a:t>
            </a:r>
            <a:r>
              <a:rPr lang="es-ES_tradnl" dirty="0"/>
              <a:t>: se ejecutan automáticamente (por cambio de registro, programación o evento).</a:t>
            </a:r>
          </a:p>
          <a:p>
            <a:endParaRPr lang="es-ES_tradnl" dirty="0"/>
          </a:p>
          <a:p>
            <a:r>
              <a:rPr lang="es-ES_tradnl" dirty="0"/>
              <a:t>Ejemplo :</a:t>
            </a:r>
          </a:p>
          <a:p>
            <a:r>
              <a:rPr lang="es-ES_tradnl" dirty="0"/>
              <a:t>Un </a:t>
            </a:r>
            <a:r>
              <a:rPr lang="es-ES_tradnl" dirty="0" err="1"/>
              <a:t>Flow</a:t>
            </a:r>
            <a:r>
              <a:rPr lang="es-ES_tradnl" dirty="0"/>
              <a:t> que, al crear un nuevo Proyecto:</a:t>
            </a:r>
          </a:p>
          <a:p>
            <a:endParaRPr lang="es-ES_tradnl" dirty="0"/>
          </a:p>
          <a:p>
            <a:r>
              <a:rPr lang="es-ES_tradnl" dirty="0"/>
              <a:t>Asigne automáticamente un responsable.</a:t>
            </a:r>
          </a:p>
          <a:p>
            <a:endParaRPr lang="es-ES_tradnl" dirty="0"/>
          </a:p>
          <a:p>
            <a:r>
              <a:rPr lang="es-ES_tradnl" dirty="0"/>
              <a:t>Envíe una notificación al gerente.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1264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23979"/>
            <a:ext cx="10504000" cy="1132258"/>
          </a:xfrm>
        </p:spPr>
        <p:txBody>
          <a:bodyPr/>
          <a:lstStyle/>
          <a:p>
            <a:pPr algn="l"/>
            <a:r>
              <a:rPr lang="es-ES_tradnl" dirty="0"/>
              <a:t>6</a:t>
            </a:r>
            <a:r>
              <a:rPr lang="es-ES_tradnl"/>
              <a:t>. </a:t>
            </a:r>
            <a:r>
              <a:rPr lang="es-ES_tradnl" dirty="0"/>
              <a:t>Automatización: </a:t>
            </a:r>
            <a:r>
              <a:rPr lang="es-ES_tradnl" dirty="0" err="1"/>
              <a:t>validation</a:t>
            </a:r>
            <a:r>
              <a:rPr lang="es-ES_tradnl" dirty="0"/>
              <a:t> rules, </a:t>
            </a:r>
            <a:r>
              <a:rPr lang="es-ES_tradnl" dirty="0" err="1"/>
              <a:t>Flows</a:t>
            </a:r>
            <a:r>
              <a:rPr lang="es-ES_tradnl" dirty="0"/>
              <a:t>, </a:t>
            </a:r>
            <a:r>
              <a:rPr lang="es-ES_tradnl" dirty="0" err="1"/>
              <a:t>Process</a:t>
            </a:r>
            <a:r>
              <a:rPr lang="es-ES_tradnl" dirty="0"/>
              <a:t> </a:t>
            </a:r>
            <a:r>
              <a:rPr lang="es-ES_tradnl" dirty="0" err="1"/>
              <a:t>Builder</a:t>
            </a:r>
            <a:endParaRPr lang="es-ES_tradnl" dirty="0"/>
          </a:p>
        </p:txBody>
      </p:sp>
      <p:sp>
        <p:nvSpPr>
          <p:cNvPr id="5" name="AutoShape 3" descr="La historia de los sistemas CRM modernos: un breve resumen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64B3A499-9004-4DB8-AEFE-F259F5946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3084899" y="3244334"/>
            <a:ext cx="248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/>
              <a:t>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899" y="1626028"/>
            <a:ext cx="7159767" cy="501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112648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mpany overview001">
      <a:majorFont>
        <a:latin typeface="Franklin Gothic Heavy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:a="http://schemas.openxmlformats.org/drawingml/2006/main" xmlns="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:a="http://schemas.openxmlformats.org/drawingml/2006/main" xmlns="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:a="http://schemas.openxmlformats.org/drawingml/2006/main" xmlns="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60D4B54-28E2-4923-AAAE-FE6B2DA9CE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D106A9-355A-41E8-8BB0-D23731FC86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0C76C-AAF9-4815-AD6C-88260D28D40A}">
  <ds:schemaRefs>
    <ds:schemaRef ds:uri="http://schemas.openxmlformats.org/package/2006/metadata/core-properties"/>
    <ds:schemaRef ds:uri="http://purl.org/dc/dcmitype/"/>
    <ds:schemaRef ds:uri="21705155-b4ce-4c69-95dc-4fd6cb8c5571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purl.org/dc/elements/1.1/"/>
    <ds:schemaRef ds:uri="http://schemas.microsoft.com/office/infopath/2007/PartnerControls"/>
    <ds:schemaRef ds:uri="38de0ec0-4312-429b-9ba4-a6f7899b86f2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1958</TotalTime>
  <Words>1614</Words>
  <Application>Microsoft Office PowerPoint</Application>
  <PresentationFormat>Custom</PresentationFormat>
  <Paragraphs>211</Paragraphs>
  <Slides>26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Custom</vt:lpstr>
      <vt:lpstr>Sistemas de Gestión Empresarial</vt:lpstr>
      <vt:lpstr>Objetivos del tema</vt:lpstr>
      <vt:lpstr>Slide 3</vt:lpstr>
      <vt:lpstr>Slide 4</vt:lpstr>
      <vt:lpstr>Slide 5</vt:lpstr>
      <vt:lpstr>2. Entorno de programación Salesforce </vt:lpstr>
      <vt:lpstr>2. Entorno de programación Salesforce </vt:lpstr>
      <vt:lpstr>2. Entorno de programación Salesforce </vt:lpstr>
      <vt:lpstr>2. Entorno de programación Salesforce </vt:lpstr>
      <vt:lpstr>2. Entorno de programación Salesforce </vt:lpstr>
      <vt:lpstr>2. Entorno de programación Salesforce </vt:lpstr>
      <vt:lpstr>2. Entorno de programación Salesforce </vt:lpstr>
      <vt:lpstr>2. Entorno de programación Salesforce </vt:lpstr>
      <vt:lpstr>3. Principales funciones de Salesforce Lightning   </vt:lpstr>
      <vt:lpstr>3. Principales funciones de Salesforce Lightning   </vt:lpstr>
      <vt:lpstr>4. Modelo de datos: objetos estándar</vt:lpstr>
      <vt:lpstr>4. Modelo de datos: objetos estándar</vt:lpstr>
      <vt:lpstr>4. Modelo de datos: objetos personalizados</vt:lpstr>
      <vt:lpstr>4. Modelo de datos: objetos personalizados</vt:lpstr>
      <vt:lpstr>5. Seguridad</vt:lpstr>
      <vt:lpstr>5. Seguridad</vt:lpstr>
      <vt:lpstr>5. Seguridad</vt:lpstr>
      <vt:lpstr>6. Automatización: validation rules, Flows, Process Builder</vt:lpstr>
      <vt:lpstr>6. Automatización: validation rules, Flows, Process Builder</vt:lpstr>
      <vt:lpstr>6. Automatización: validation rules, Flows, Process Builder</vt:lpstr>
      <vt:lpstr>6. Automatización: validation rules, Flows, Process Builder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Overview</dc:title>
  <dc:creator>profesor</dc:creator>
  <cp:lastModifiedBy>Llanos Soro</cp:lastModifiedBy>
  <cp:revision>251</cp:revision>
  <dcterms:created xsi:type="dcterms:W3CDTF">2025-11-06T00:17:04Z</dcterms:created>
  <dcterms:modified xsi:type="dcterms:W3CDTF">2025-11-06T00:23:12Z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